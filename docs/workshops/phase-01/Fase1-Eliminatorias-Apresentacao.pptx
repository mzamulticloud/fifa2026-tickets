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9"/>
  </p:notesMasterIdLst>
  <p:sldIdLst>
    <p:sldId id="256" r:id="rId5"/>
    <p:sldId id="260" r:id="rId6"/>
    <p:sldId id="314" r:id="rId7"/>
    <p:sldId id="266" r:id="rId8"/>
    <p:sldId id="299" r:id="rId9"/>
    <p:sldId id="301" r:id="rId10"/>
    <p:sldId id="303" r:id="rId11"/>
    <p:sldId id="326" r:id="rId12"/>
    <p:sldId id="320" r:id="rId13"/>
    <p:sldId id="323" r:id="rId14"/>
    <p:sldId id="324" r:id="rId15"/>
    <p:sldId id="327" r:id="rId16"/>
    <p:sldId id="264" r:id="rId17"/>
    <p:sldId id="291" r:id="rId18"/>
    <p:sldId id="325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677913-4782-4951-B263-542347FB8EDE}" v="2" dt="2026-06-05T18:41:38.923"/>
    <p1510:client id="{FE15D5D0-70BC-4957-8C84-3763F5DE5AF3}" v="21" dt="2026-06-05T17:53:00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phael Andrade" userId="83b0b238-307c-492f-8657-f7069ddea8bb" providerId="ADAL" clId="{AF756EA4-6655-4C62-8DE7-8FA7C8811308}"/>
    <pc:docChg chg="custSel addSld modSld">
      <pc:chgData name="Raphael Andrade" userId="83b0b238-307c-492f-8657-f7069ddea8bb" providerId="ADAL" clId="{AF756EA4-6655-4C62-8DE7-8FA7C8811308}" dt="2026-06-05T18:41:48.876" v="44" actId="1076"/>
      <pc:docMkLst>
        <pc:docMk/>
      </pc:docMkLst>
      <pc:sldChg chg="addSp delSp modSp add mod">
        <pc:chgData name="Raphael Andrade" userId="83b0b238-307c-492f-8657-f7069ddea8bb" providerId="ADAL" clId="{AF756EA4-6655-4C62-8DE7-8FA7C8811308}" dt="2026-06-05T18:41:48.876" v="44" actId="1076"/>
        <pc:sldMkLst>
          <pc:docMk/>
          <pc:sldMk cId="2986255939" sldId="327"/>
        </pc:sldMkLst>
        <pc:spChg chg="mod">
          <ac:chgData name="Raphael Andrade" userId="83b0b238-307c-492f-8657-f7069ddea8bb" providerId="ADAL" clId="{AF756EA4-6655-4C62-8DE7-8FA7C8811308}" dt="2026-06-05T18:41:46.503" v="43" actId="1076"/>
          <ac:spMkLst>
            <pc:docMk/>
            <pc:sldMk cId="2986255939" sldId="327"/>
            <ac:spMk id="2" creationId="{42DC52C8-2CD3-9B4B-3837-EBFE16F3B100}"/>
          </ac:spMkLst>
        </pc:spChg>
        <pc:spChg chg="mod">
          <ac:chgData name="Raphael Andrade" userId="83b0b238-307c-492f-8657-f7069ddea8bb" providerId="ADAL" clId="{AF756EA4-6655-4C62-8DE7-8FA7C8811308}" dt="2026-06-05T18:41:48.876" v="44" actId="1076"/>
          <ac:spMkLst>
            <pc:docMk/>
            <pc:sldMk cId="2986255939" sldId="327"/>
            <ac:spMk id="3" creationId="{6086442D-8971-B142-D857-3D6F18B86581}"/>
          </ac:spMkLst>
        </pc:spChg>
        <pc:spChg chg="mod">
          <ac:chgData name="Raphael Andrade" userId="83b0b238-307c-492f-8657-f7069ddea8bb" providerId="ADAL" clId="{AF756EA4-6655-4C62-8DE7-8FA7C8811308}" dt="2026-06-05T18:41:35.145" v="41" actId="1035"/>
          <ac:spMkLst>
            <pc:docMk/>
            <pc:sldMk cId="2986255939" sldId="327"/>
            <ac:spMk id="4" creationId="{26268E10-79D2-50E3-1CF3-738B61927D89}"/>
          </ac:spMkLst>
        </pc:spChg>
        <pc:spChg chg="mod">
          <ac:chgData name="Raphael Andrade" userId="83b0b238-307c-492f-8657-f7069ddea8bb" providerId="ADAL" clId="{AF756EA4-6655-4C62-8DE7-8FA7C8811308}" dt="2026-06-05T18:41:35.145" v="41" actId="1035"/>
          <ac:spMkLst>
            <pc:docMk/>
            <pc:sldMk cId="2986255939" sldId="327"/>
            <ac:spMk id="5" creationId="{7D608019-6D84-8EDA-9673-F18500995226}"/>
          </ac:spMkLst>
        </pc:spChg>
        <pc:spChg chg="mod">
          <ac:chgData name="Raphael Andrade" userId="83b0b238-307c-492f-8657-f7069ddea8bb" providerId="ADAL" clId="{AF756EA4-6655-4C62-8DE7-8FA7C8811308}" dt="2026-06-05T18:41:35.145" v="41" actId="1035"/>
          <ac:spMkLst>
            <pc:docMk/>
            <pc:sldMk cId="2986255939" sldId="327"/>
            <ac:spMk id="6" creationId="{3DBDCE35-CAB5-D49A-F927-B4E16AE86EBF}"/>
          </ac:spMkLst>
        </pc:spChg>
        <pc:spChg chg="del">
          <ac:chgData name="Raphael Andrade" userId="83b0b238-307c-492f-8657-f7069ddea8bb" providerId="ADAL" clId="{AF756EA4-6655-4C62-8DE7-8FA7C8811308}" dt="2026-06-05T18:41:17.295" v="16" actId="478"/>
          <ac:spMkLst>
            <pc:docMk/>
            <pc:sldMk cId="2986255939" sldId="327"/>
            <ac:spMk id="7" creationId="{3ACB5DBF-9F9E-6C53-C9C7-825C2575D57A}"/>
          </ac:spMkLst>
        </pc:spChg>
        <pc:spChg chg="del">
          <ac:chgData name="Raphael Andrade" userId="83b0b238-307c-492f-8657-f7069ddea8bb" providerId="ADAL" clId="{AF756EA4-6655-4C62-8DE7-8FA7C8811308}" dt="2026-06-05T18:41:22.359" v="21" actId="478"/>
          <ac:spMkLst>
            <pc:docMk/>
            <pc:sldMk cId="2986255939" sldId="327"/>
            <ac:spMk id="8" creationId="{8E6A39E7-C6B8-3F26-7524-523ABA41B6F2}"/>
          </ac:spMkLst>
        </pc:spChg>
        <pc:spChg chg="del">
          <ac:chgData name="Raphael Andrade" userId="83b0b238-307c-492f-8657-f7069ddea8bb" providerId="ADAL" clId="{AF756EA4-6655-4C62-8DE7-8FA7C8811308}" dt="2026-06-05T18:41:23.865" v="22" actId="478"/>
          <ac:spMkLst>
            <pc:docMk/>
            <pc:sldMk cId="2986255939" sldId="327"/>
            <ac:spMk id="9" creationId="{6AE6C7BB-D521-F5EE-52DA-B84956DA87FC}"/>
          </ac:spMkLst>
        </pc:spChg>
        <pc:spChg chg="del">
          <ac:chgData name="Raphael Andrade" userId="83b0b238-307c-492f-8657-f7069ddea8bb" providerId="ADAL" clId="{AF756EA4-6655-4C62-8DE7-8FA7C8811308}" dt="2026-06-05T18:41:26.613" v="23" actId="478"/>
          <ac:spMkLst>
            <pc:docMk/>
            <pc:sldMk cId="2986255939" sldId="327"/>
            <ac:spMk id="10" creationId="{70840DE3-404C-89A5-E435-1521F2354292}"/>
          </ac:spMkLst>
        </pc:spChg>
        <pc:spChg chg="del">
          <ac:chgData name="Raphael Andrade" userId="83b0b238-307c-492f-8657-f7069ddea8bb" providerId="ADAL" clId="{AF756EA4-6655-4C62-8DE7-8FA7C8811308}" dt="2026-06-05T18:41:28.669" v="24" actId="478"/>
          <ac:spMkLst>
            <pc:docMk/>
            <pc:sldMk cId="2986255939" sldId="327"/>
            <ac:spMk id="11" creationId="{BAE8BBF1-757B-AF25-9B87-388EE5CC2D08}"/>
          </ac:spMkLst>
        </pc:spChg>
        <pc:spChg chg="del">
          <ac:chgData name="Raphael Andrade" userId="83b0b238-307c-492f-8657-f7069ddea8bb" providerId="ADAL" clId="{AF756EA4-6655-4C62-8DE7-8FA7C8811308}" dt="2026-06-05T18:41:09.025" v="7" actId="478"/>
          <ac:spMkLst>
            <pc:docMk/>
            <pc:sldMk cId="2986255939" sldId="327"/>
            <ac:spMk id="15" creationId="{81A1FEB9-67A0-DD0F-7A54-D2DC235B5444}"/>
          </ac:spMkLst>
        </pc:spChg>
        <pc:spChg chg="del">
          <ac:chgData name="Raphael Andrade" userId="83b0b238-307c-492f-8657-f7069ddea8bb" providerId="ADAL" clId="{AF756EA4-6655-4C62-8DE7-8FA7C8811308}" dt="2026-06-05T18:41:10.203" v="8" actId="478"/>
          <ac:spMkLst>
            <pc:docMk/>
            <pc:sldMk cId="2986255939" sldId="327"/>
            <ac:spMk id="16" creationId="{E3C3138E-F8E9-31F4-739D-DDA78C2BF730}"/>
          </ac:spMkLst>
        </pc:spChg>
        <pc:spChg chg="del">
          <ac:chgData name="Raphael Andrade" userId="83b0b238-307c-492f-8657-f7069ddea8bb" providerId="ADAL" clId="{AF756EA4-6655-4C62-8DE7-8FA7C8811308}" dt="2026-06-05T18:41:11.426" v="9" actId="478"/>
          <ac:spMkLst>
            <pc:docMk/>
            <pc:sldMk cId="2986255939" sldId="327"/>
            <ac:spMk id="17" creationId="{B9A60964-8AF9-7B9D-3A48-0D7AEBAA1F61}"/>
          </ac:spMkLst>
        </pc:spChg>
        <pc:spChg chg="del">
          <ac:chgData name="Raphael Andrade" userId="83b0b238-307c-492f-8657-f7069ddea8bb" providerId="ADAL" clId="{AF756EA4-6655-4C62-8DE7-8FA7C8811308}" dt="2026-06-05T18:41:12.364" v="10" actId="478"/>
          <ac:spMkLst>
            <pc:docMk/>
            <pc:sldMk cId="2986255939" sldId="327"/>
            <ac:spMk id="18" creationId="{2EE036EB-8296-4DDA-0043-2FF496E34E12}"/>
          </ac:spMkLst>
        </pc:spChg>
        <pc:spChg chg="del">
          <ac:chgData name="Raphael Andrade" userId="83b0b238-307c-492f-8657-f7069ddea8bb" providerId="ADAL" clId="{AF756EA4-6655-4C62-8DE7-8FA7C8811308}" dt="2026-06-05T18:41:13.070" v="11" actId="478"/>
          <ac:spMkLst>
            <pc:docMk/>
            <pc:sldMk cId="2986255939" sldId="327"/>
            <ac:spMk id="19" creationId="{639F8325-434E-E7EB-7F40-7F1EBF5EA528}"/>
          </ac:spMkLst>
        </pc:spChg>
        <pc:spChg chg="del">
          <ac:chgData name="Raphael Andrade" userId="83b0b238-307c-492f-8657-f7069ddea8bb" providerId="ADAL" clId="{AF756EA4-6655-4C62-8DE7-8FA7C8811308}" dt="2026-06-05T18:41:15.807" v="15" actId="478"/>
          <ac:spMkLst>
            <pc:docMk/>
            <pc:sldMk cId="2986255939" sldId="327"/>
            <ac:spMk id="20" creationId="{9829AAAA-06CD-2E78-95BA-296D118358DB}"/>
          </ac:spMkLst>
        </pc:spChg>
        <pc:spChg chg="del">
          <ac:chgData name="Raphael Andrade" userId="83b0b238-307c-492f-8657-f7069ddea8bb" providerId="ADAL" clId="{AF756EA4-6655-4C62-8DE7-8FA7C8811308}" dt="2026-06-05T18:41:15.213" v="14" actId="478"/>
          <ac:spMkLst>
            <pc:docMk/>
            <pc:sldMk cId="2986255939" sldId="327"/>
            <ac:spMk id="21" creationId="{523FCC16-1EF6-D405-234A-FE87466C6DBB}"/>
          </ac:spMkLst>
        </pc:spChg>
        <pc:spChg chg="del">
          <ac:chgData name="Raphael Andrade" userId="83b0b238-307c-492f-8657-f7069ddea8bb" providerId="ADAL" clId="{AF756EA4-6655-4C62-8DE7-8FA7C8811308}" dt="2026-06-05T18:41:14.669" v="13" actId="478"/>
          <ac:spMkLst>
            <pc:docMk/>
            <pc:sldMk cId="2986255939" sldId="327"/>
            <ac:spMk id="22" creationId="{8481661C-0706-C542-EA37-F843704CBC58}"/>
          </ac:spMkLst>
        </pc:spChg>
        <pc:spChg chg="del">
          <ac:chgData name="Raphael Andrade" userId="83b0b238-307c-492f-8657-f7069ddea8bb" providerId="ADAL" clId="{AF756EA4-6655-4C62-8DE7-8FA7C8811308}" dt="2026-06-05T18:41:13.917" v="12" actId="478"/>
          <ac:spMkLst>
            <pc:docMk/>
            <pc:sldMk cId="2986255939" sldId="327"/>
            <ac:spMk id="26" creationId="{B00E8D35-0421-D12E-5025-04E80C5BD4EF}"/>
          </ac:spMkLst>
        </pc:spChg>
        <pc:picChg chg="add mod">
          <ac:chgData name="Raphael Andrade" userId="83b0b238-307c-492f-8657-f7069ddea8bb" providerId="ADAL" clId="{AF756EA4-6655-4C62-8DE7-8FA7C8811308}" dt="2026-06-05T18:41:38.923" v="42"/>
          <ac:picMkLst>
            <pc:docMk/>
            <pc:sldMk cId="2986255939" sldId="327"/>
            <ac:picMk id="12" creationId="{B98C2AA4-9DB8-ED6D-E698-3A985087534A}"/>
          </ac:picMkLst>
        </pc:picChg>
        <pc:picChg chg="del">
          <ac:chgData name="Raphael Andrade" userId="83b0b238-307c-492f-8657-f7069ddea8bb" providerId="ADAL" clId="{AF756EA4-6655-4C62-8DE7-8FA7C8811308}" dt="2026-06-05T18:41:18.480" v="17" actId="478"/>
          <ac:picMkLst>
            <pc:docMk/>
            <pc:sldMk cId="2986255939" sldId="327"/>
            <ac:picMk id="27" creationId="{5689EF1E-7023-DCD7-E5CF-ED3167965342}"/>
          </ac:picMkLst>
        </pc:picChg>
        <pc:picChg chg="del">
          <ac:chgData name="Raphael Andrade" userId="83b0b238-307c-492f-8657-f7069ddea8bb" providerId="ADAL" clId="{AF756EA4-6655-4C62-8DE7-8FA7C8811308}" dt="2026-06-05T18:41:19.311" v="18" actId="478"/>
          <ac:picMkLst>
            <pc:docMk/>
            <pc:sldMk cId="2986255939" sldId="327"/>
            <ac:picMk id="28" creationId="{B91F7463-C91F-AC1C-4A8A-62466156F515}"/>
          </ac:picMkLst>
        </pc:picChg>
        <pc:picChg chg="del">
          <ac:chgData name="Raphael Andrade" userId="83b0b238-307c-492f-8657-f7069ddea8bb" providerId="ADAL" clId="{AF756EA4-6655-4C62-8DE7-8FA7C8811308}" dt="2026-06-05T18:41:20.126" v="19" actId="478"/>
          <ac:picMkLst>
            <pc:docMk/>
            <pc:sldMk cId="2986255939" sldId="327"/>
            <ac:picMk id="29" creationId="{1025C465-8270-DC30-5A97-CF616DB0A0BF}"/>
          </ac:picMkLst>
        </pc:picChg>
        <pc:picChg chg="del">
          <ac:chgData name="Raphael Andrade" userId="83b0b238-307c-492f-8657-f7069ddea8bb" providerId="ADAL" clId="{AF756EA4-6655-4C62-8DE7-8FA7C8811308}" dt="2026-06-05T18:41:20.989" v="20" actId="478"/>
          <ac:picMkLst>
            <pc:docMk/>
            <pc:sldMk cId="2986255939" sldId="327"/>
            <ac:picMk id="30" creationId="{2323E8CE-5AB1-01C9-46C9-BD4D614933F4}"/>
          </ac:picMkLst>
        </pc:picChg>
        <pc:picChg chg="del">
          <ac:chgData name="Raphael Andrade" userId="83b0b238-307c-492f-8657-f7069ddea8bb" providerId="ADAL" clId="{AF756EA4-6655-4C62-8DE7-8FA7C8811308}" dt="2026-06-05T18:41:29.347" v="25" actId="478"/>
          <ac:picMkLst>
            <pc:docMk/>
            <pc:sldMk cId="2986255939" sldId="327"/>
            <ac:picMk id="37" creationId="{7DC4C53D-3D26-22DB-E653-09E7639E21F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6491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FE5D0-9A4F-140D-E775-43953E590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393D6-6D32-5162-FD90-C3214342C3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A18E6F-5890-6176-1033-E98EACA8C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60DFE-7E5E-1783-DAC5-255308517A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96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6D713-4C53-BB32-1FAB-3CA5BC38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6E644-8823-5955-8431-D0AC42E3A4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C0019-3740-0CD3-018D-4C4495B3D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FA29B-F2DD-49C0-8022-C57057192A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943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1DA19-027B-2DA4-4AA4-1086D522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B7B31-A3B8-2AD7-D139-C796D6941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452AA-4E8C-3775-9361-E63C4E6D3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BD455-47FF-72C1-4FB3-B628B52DB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66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even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56" y="1371600"/>
            <a:ext cx="6035040" cy="20336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31436" y="37033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5130C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Text 1"/>
          <p:cNvSpPr/>
          <p:nvPr/>
        </p:nvSpPr>
        <p:spPr>
          <a:xfrm>
            <a:off x="4631436" y="3703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50" dirty="0">
                <a:solidFill>
                  <a:srgbClr val="F5E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1 · ELIMINATÓRIAS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Conteúdo Técnico · Nivelamento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489204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Fundamentos de Azure, controle de custo e primeiros laboratórios — do zero, para todos.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~4h50 DE CONTEÚDO   ·   100% CONTA TRIAL + GITHUB GRATUITO   ·   PROJETO TFTICKETS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é cloud e o que é Azure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Fundamentos de computação em nuvem, modelos de serviço e implantação, e o panorama da plataforma Microsoft Azure.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Computação em nuvem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24" name="s6_qbox">
            <a:extLst>
              <a:ext uri="{FF2B5EF4-FFF2-40B4-BE49-F238E27FC236}">
                <a16:creationId xmlns:a16="http://schemas.microsoft.com/office/drawing/2014/main" id="{3E286544-1312-48B7-840D-A06259105CC8}"/>
              </a:ext>
            </a:extLst>
          </p:cNvPr>
          <p:cNvSpPr/>
          <p:nvPr/>
        </p:nvSpPr>
        <p:spPr>
          <a:xfrm>
            <a:off x="635000" y="1625600"/>
            <a:ext cx="5207000" cy="19050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dirty="0"/>
          </a:p>
        </p:txBody>
      </p:sp>
      <p:sp>
        <p:nvSpPr>
          <p:cNvPr id="25" name="s6_qbar">
            <a:extLst>
              <a:ext uri="{FF2B5EF4-FFF2-40B4-BE49-F238E27FC236}">
                <a16:creationId xmlns:a16="http://schemas.microsoft.com/office/drawing/2014/main" id="{A82C99D4-E735-4CAC-86B8-FDD4210FD41A}"/>
              </a:ext>
            </a:extLst>
          </p:cNvPr>
          <p:cNvSpPr/>
          <p:nvPr/>
        </p:nvSpPr>
        <p:spPr>
          <a:xfrm>
            <a:off x="635000" y="1625600"/>
            <a:ext cx="63500" cy="1905000"/>
          </a:xfrm>
          <a:prstGeom prst="rect">
            <a:avLst/>
          </a:prstGeom>
          <a:solidFill>
            <a:srgbClr val="C9A22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dirty="0"/>
          </a:p>
        </p:txBody>
      </p:sp>
      <p:sp>
        <p:nvSpPr>
          <p:cNvPr id="26" name="s6_qtxt">
            <a:extLst>
              <a:ext uri="{FF2B5EF4-FFF2-40B4-BE49-F238E27FC236}">
                <a16:creationId xmlns:a16="http://schemas.microsoft.com/office/drawing/2014/main" id="{CC5F3D81-CF0B-4267-8001-34EE688C1194}"/>
              </a:ext>
            </a:extLst>
          </p:cNvPr>
          <p:cNvSpPr txBox="1"/>
          <p:nvPr/>
        </p:nvSpPr>
        <p:spPr>
          <a:xfrm>
            <a:off x="889000" y="1778000"/>
            <a:ext cx="4775200" cy="1320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pt-BR" sz="1400" i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"Computação em nuvem é a entrega de serviços de computação — servidores, armazenamento, banco de dados, rede e software — pela internet, pagando apenas pelo que você usa."</a:t>
            </a:r>
          </a:p>
        </p:txBody>
      </p:sp>
      <p:sp>
        <p:nvSpPr>
          <p:cNvPr id="27" name="s6_qattr">
            <a:extLst>
              <a:ext uri="{FF2B5EF4-FFF2-40B4-BE49-F238E27FC236}">
                <a16:creationId xmlns:a16="http://schemas.microsoft.com/office/drawing/2014/main" id="{080B5FA8-DDAB-41EE-AA18-798D25CE0E2A}"/>
              </a:ext>
            </a:extLst>
          </p:cNvPr>
          <p:cNvSpPr txBox="1"/>
          <p:nvPr/>
        </p:nvSpPr>
        <p:spPr>
          <a:xfrm>
            <a:off x="889000" y="3175000"/>
            <a:ext cx="4775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0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— Microsoft Azure</a:t>
            </a:r>
          </a:p>
        </p:txBody>
      </p:sp>
      <p:sp>
        <p:nvSpPr>
          <p:cNvPr id="28" name="s6_atit">
            <a:extLst>
              <a:ext uri="{FF2B5EF4-FFF2-40B4-BE49-F238E27FC236}">
                <a16:creationId xmlns:a16="http://schemas.microsoft.com/office/drawing/2014/main" id="{A4B489F3-2AD1-4C32-9505-9BF39BE73EAB}"/>
              </a:ext>
            </a:extLst>
          </p:cNvPr>
          <p:cNvSpPr txBox="1"/>
          <p:nvPr/>
        </p:nvSpPr>
        <p:spPr>
          <a:xfrm>
            <a:off x="635000" y="37338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200" b="1" dirty="0">
                <a:solidFill>
                  <a:srgbClr val="C9A227"/>
                </a:solidFill>
                <a:latin typeface="JetBrains Mono"/>
              </a:rPr>
              <a:t>ANALOGIA COM SERVIÇOS PÚBLICOS</a:t>
            </a:r>
          </a:p>
        </p:txBody>
      </p:sp>
      <p:sp>
        <p:nvSpPr>
          <p:cNvPr id="29" name="s6_aitem0">
            <a:extLst>
              <a:ext uri="{FF2B5EF4-FFF2-40B4-BE49-F238E27FC236}">
                <a16:creationId xmlns:a16="http://schemas.microsoft.com/office/drawing/2014/main" id="{671FFA8B-BE6F-444C-A0C4-D45D8BDC30BC}"/>
              </a:ext>
            </a:extLst>
          </p:cNvPr>
          <p:cNvSpPr txBox="1"/>
          <p:nvPr/>
        </p:nvSpPr>
        <p:spPr>
          <a:xfrm>
            <a:off x="1168400" y="4140200"/>
            <a:ext cx="4673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CCCCCC"/>
                </a:solidFill>
                <a:latin typeface="Sora"/>
              </a:rPr>
              <a:t>Como água e luz, você paga só pelo que consome — sem construir sua própria usina</a:t>
            </a:r>
          </a:p>
        </p:txBody>
      </p:sp>
      <p:sp>
        <p:nvSpPr>
          <p:cNvPr id="30" name="s6_aitem1">
            <a:extLst>
              <a:ext uri="{FF2B5EF4-FFF2-40B4-BE49-F238E27FC236}">
                <a16:creationId xmlns:a16="http://schemas.microsoft.com/office/drawing/2014/main" id="{3C708934-87C9-40D1-A1CB-5B4D7CA1F341}"/>
              </a:ext>
            </a:extLst>
          </p:cNvPr>
          <p:cNvSpPr txBox="1"/>
          <p:nvPr/>
        </p:nvSpPr>
        <p:spPr>
          <a:xfrm>
            <a:off x="1168400" y="4764775"/>
            <a:ext cx="4673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CCCCCC"/>
                </a:solidFill>
                <a:latin typeface="Sora"/>
              </a:rPr>
              <a:t>Recursos sob demanda, escaláveis conforme a necessidade</a:t>
            </a:r>
          </a:p>
        </p:txBody>
      </p:sp>
      <p:sp>
        <p:nvSpPr>
          <p:cNvPr id="31" name="s6_aitem2">
            <a:extLst>
              <a:ext uri="{FF2B5EF4-FFF2-40B4-BE49-F238E27FC236}">
                <a16:creationId xmlns:a16="http://schemas.microsoft.com/office/drawing/2014/main" id="{12CDA75E-0E08-4274-8F96-4EDE8A3C0D8E}"/>
              </a:ext>
            </a:extLst>
          </p:cNvPr>
          <p:cNvSpPr txBox="1"/>
          <p:nvPr/>
        </p:nvSpPr>
        <p:spPr>
          <a:xfrm>
            <a:off x="1168400" y="5323575"/>
            <a:ext cx="4673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CCCCCC"/>
                </a:solidFill>
                <a:latin typeface="Sora"/>
              </a:rPr>
              <a:t>Troca de CAPEX (investimento inicial) por OPEX (despesa operacional)</a:t>
            </a:r>
          </a:p>
        </p:txBody>
      </p:sp>
      <p:sp>
        <p:nvSpPr>
          <p:cNvPr id="32" name="s6_aitem3">
            <a:extLst>
              <a:ext uri="{FF2B5EF4-FFF2-40B4-BE49-F238E27FC236}">
                <a16:creationId xmlns:a16="http://schemas.microsoft.com/office/drawing/2014/main" id="{D054D11B-9C40-4D68-8AAA-D0E9D73E520A}"/>
              </a:ext>
            </a:extLst>
          </p:cNvPr>
          <p:cNvSpPr txBox="1"/>
          <p:nvPr/>
        </p:nvSpPr>
        <p:spPr>
          <a:xfrm>
            <a:off x="1168400" y="5882375"/>
            <a:ext cx="4673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dirty="0">
                <a:solidFill>
                  <a:srgbClr val="CCCCCC"/>
                </a:solidFill>
                <a:latin typeface="Sora"/>
              </a:rPr>
              <a:t>Infraestrutura mantida por especialistas, com redundância e alta disponibilidade</a:t>
            </a:r>
          </a:p>
        </p:txBody>
      </p:sp>
      <p:pic>
        <p:nvPicPr>
          <p:cNvPr id="33" name="Graphic 33" descr="Água e luz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4140200"/>
            <a:ext cx="304800" cy="304800"/>
          </a:xfrm>
          <a:prstGeom prst="rect">
            <a:avLst/>
          </a:prstGeom>
        </p:spPr>
      </p:pic>
      <p:pic>
        <p:nvPicPr>
          <p:cNvPr id="34" name="Graphic 34" descr="Sob demand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4764775"/>
            <a:ext cx="304800" cy="304800"/>
          </a:xfrm>
          <a:prstGeom prst="rect">
            <a:avLst/>
          </a:prstGeom>
        </p:spPr>
      </p:pic>
      <p:pic>
        <p:nvPicPr>
          <p:cNvPr id="35" name="Graphic 35" descr="CAPEX para OPEX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200" y="5323575"/>
            <a:ext cx="304800" cy="304800"/>
          </a:xfrm>
          <a:prstGeom prst="rect">
            <a:avLst/>
          </a:prstGeom>
        </p:spPr>
      </p:pic>
      <p:pic>
        <p:nvPicPr>
          <p:cNvPr id="36" name="Graphic 36" descr="Alta disponibilida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" y="5882375"/>
            <a:ext cx="304800" cy="304800"/>
          </a:xfrm>
          <a:prstGeom prst="rect">
            <a:avLst/>
          </a:prstGeom>
        </p:spPr>
      </p:pic>
      <p:sp>
        <p:nvSpPr>
          <p:cNvPr id="4" name="s6_cbox">
            <a:extLst>
              <a:ext uri="{FF2B5EF4-FFF2-40B4-BE49-F238E27FC236}">
                <a16:creationId xmlns:a16="http://schemas.microsoft.com/office/drawing/2014/main" id="{C5D039E1-FE74-46F8-9B98-B7D2037A8508}"/>
              </a:ext>
            </a:extLst>
          </p:cNvPr>
          <p:cNvSpPr/>
          <p:nvPr/>
        </p:nvSpPr>
        <p:spPr>
          <a:xfrm>
            <a:off x="6223000" y="1625600"/>
            <a:ext cx="5334000" cy="46482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 dirty="0"/>
          </a:p>
        </p:txBody>
      </p:sp>
      <p:sp>
        <p:nvSpPr>
          <p:cNvPr id="5" name="s6_ctit">
            <a:extLst>
              <a:ext uri="{FF2B5EF4-FFF2-40B4-BE49-F238E27FC236}">
                <a16:creationId xmlns:a16="http://schemas.microsoft.com/office/drawing/2014/main" id="{8859E1A3-84D5-4DCC-BEC4-78B412174F7E}"/>
              </a:ext>
            </a:extLst>
          </p:cNvPr>
          <p:cNvSpPr txBox="1"/>
          <p:nvPr/>
        </p:nvSpPr>
        <p:spPr>
          <a:xfrm>
            <a:off x="6477000" y="1803400"/>
            <a:ext cx="4876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 dirty="0">
                <a:solidFill>
                  <a:srgbClr val="C9A227"/>
                </a:solidFill>
                <a:latin typeface="JetBrains Mono"/>
              </a:rPr>
              <a:t>5 CARACTERÍSTICAS ESSENCIAIS (NIST)</a:t>
            </a:r>
          </a:p>
        </p:txBody>
      </p:sp>
      <p:sp>
        <p:nvSpPr>
          <p:cNvPr id="6" name="s6_feat0">
            <a:extLst>
              <a:ext uri="{FF2B5EF4-FFF2-40B4-BE49-F238E27FC236}">
                <a16:creationId xmlns:a16="http://schemas.microsoft.com/office/drawing/2014/main" id="{525BC40E-DE32-4BD5-A411-862CD8AB1936}"/>
              </a:ext>
            </a:extLst>
          </p:cNvPr>
          <p:cNvSpPr txBox="1"/>
          <p:nvPr/>
        </p:nvSpPr>
        <p:spPr>
          <a:xfrm>
            <a:off x="6959600" y="2260600"/>
            <a:ext cx="4394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Self-Service sob Demanda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1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Provisionamento sem interação humana com o provedor</a:t>
            </a:r>
          </a:p>
        </p:txBody>
      </p:sp>
      <p:sp>
        <p:nvSpPr>
          <p:cNvPr id="7" name="s6_feat1">
            <a:extLst>
              <a:ext uri="{FF2B5EF4-FFF2-40B4-BE49-F238E27FC236}">
                <a16:creationId xmlns:a16="http://schemas.microsoft.com/office/drawing/2014/main" id="{42CC2937-09D2-4A4A-9A67-34CA706EEBE7}"/>
              </a:ext>
            </a:extLst>
          </p:cNvPr>
          <p:cNvSpPr txBox="1"/>
          <p:nvPr/>
        </p:nvSpPr>
        <p:spPr>
          <a:xfrm>
            <a:off x="6959600" y="3022600"/>
            <a:ext cx="4394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Amplo Acesso via Rede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1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Disponível em qualquer dispositivo por padrões abertos</a:t>
            </a:r>
          </a:p>
        </p:txBody>
      </p:sp>
      <p:sp>
        <p:nvSpPr>
          <p:cNvPr id="8" name="s6_feat2">
            <a:extLst>
              <a:ext uri="{FF2B5EF4-FFF2-40B4-BE49-F238E27FC236}">
                <a16:creationId xmlns:a16="http://schemas.microsoft.com/office/drawing/2014/main" id="{592936BE-DBC9-4AF4-9EDF-C77829005528}"/>
              </a:ext>
            </a:extLst>
          </p:cNvPr>
          <p:cNvSpPr txBox="1"/>
          <p:nvPr/>
        </p:nvSpPr>
        <p:spPr>
          <a:xfrm>
            <a:off x="6959600" y="3784600"/>
            <a:ext cx="4394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Pooling de Recursos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1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Recursos agrupados e compartilhados entre consumidores</a:t>
            </a:r>
          </a:p>
        </p:txBody>
      </p:sp>
      <p:sp>
        <p:nvSpPr>
          <p:cNvPr id="9" name="s6_feat3">
            <a:extLst>
              <a:ext uri="{FF2B5EF4-FFF2-40B4-BE49-F238E27FC236}">
                <a16:creationId xmlns:a16="http://schemas.microsoft.com/office/drawing/2014/main" id="{A0AAD9D3-2BFA-4ABA-BD18-E696205BE1E3}"/>
              </a:ext>
            </a:extLst>
          </p:cNvPr>
          <p:cNvSpPr txBox="1"/>
          <p:nvPr/>
        </p:nvSpPr>
        <p:spPr>
          <a:xfrm>
            <a:off x="6959600" y="4546600"/>
            <a:ext cx="4394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Elasticidade Rápida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1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Provisionados e liberados de forma elástica e automática</a:t>
            </a:r>
          </a:p>
        </p:txBody>
      </p:sp>
      <p:sp>
        <p:nvSpPr>
          <p:cNvPr id="10" name="s6_feat4">
            <a:extLst>
              <a:ext uri="{FF2B5EF4-FFF2-40B4-BE49-F238E27FC236}">
                <a16:creationId xmlns:a16="http://schemas.microsoft.com/office/drawing/2014/main" id="{04C06CAF-DACA-4F1C-B46E-238840009EC4}"/>
              </a:ext>
            </a:extLst>
          </p:cNvPr>
          <p:cNvSpPr txBox="1"/>
          <p:nvPr/>
        </p:nvSpPr>
        <p:spPr>
          <a:xfrm>
            <a:off x="6959600" y="5308600"/>
            <a:ext cx="43942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pt-BR" sz="13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Serviço Mensurável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pt-BR" sz="11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Uso medido, controlado e otimizado de forma transparente</a:t>
            </a:r>
          </a:p>
        </p:txBody>
      </p:sp>
      <p:pic>
        <p:nvPicPr>
          <p:cNvPr id="37" name="Graphic 37" descr="Self-servic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286000"/>
            <a:ext cx="304800" cy="304800"/>
          </a:xfrm>
          <a:prstGeom prst="rect">
            <a:avLst/>
          </a:prstGeom>
        </p:spPr>
      </p:pic>
      <p:pic>
        <p:nvPicPr>
          <p:cNvPr id="38" name="Graphic 38" descr="Acesso via re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3048000"/>
            <a:ext cx="304800" cy="304800"/>
          </a:xfrm>
          <a:prstGeom prst="rect">
            <a:avLst/>
          </a:prstGeom>
        </p:spPr>
      </p:pic>
      <p:pic>
        <p:nvPicPr>
          <p:cNvPr id="39" name="Graphic 39" descr="Pooling de recurs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810000"/>
            <a:ext cx="304800" cy="304800"/>
          </a:xfrm>
          <a:prstGeom prst="rect">
            <a:avLst/>
          </a:prstGeom>
        </p:spPr>
      </p:pic>
      <p:pic>
        <p:nvPicPr>
          <p:cNvPr id="40" name="Graphic 40" descr="Elasticidad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572000"/>
            <a:ext cx="304800" cy="304800"/>
          </a:xfrm>
          <a:prstGeom prst="rect">
            <a:avLst/>
          </a:prstGeom>
        </p:spPr>
      </p:pic>
      <p:pic>
        <p:nvPicPr>
          <p:cNvPr id="41" name="Graphic 41" descr="Serviço mensuráve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53340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81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Modelos</a:t>
            </a: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de </a:t>
            </a:r>
            <a:r>
              <a:rPr lang="en-US" sz="46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nuvem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/>
                <a:cs typeface="JetBrains Mono"/>
              </a:rPr>
              <a:t>MODELO DE IMPLANTAÇÃO · 01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 pitchFamily="34" charset="0"/>
                <a:ea typeface="Sora"/>
                <a:cs typeface="Sora"/>
              </a:rPr>
              <a:t>Nuvem Pública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510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35000" y="1651000"/>
            <a:ext cx="88900" cy="11938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510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Característica</a:t>
            </a:r>
          </a:p>
        </p:txBody>
      </p:sp>
      <p:sp>
        <p:nvSpPr>
          <p:cNvPr id="7" name="Text 5"/>
          <p:cNvSpPr/>
          <p:nvPr/>
        </p:nvSpPr>
        <p:spPr>
          <a:xfrm>
            <a:off x="2997200" y="16510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Infraestrutura do provedor (Azure) compartilhada entre clientes e acessada pela internet. Modelo de pagamento por uso (pay-as-you-go), sem gerência de hardware.</a:t>
            </a:r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5000" y="30226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35000" y="3022600"/>
            <a:ext cx="88900" cy="11938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0226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6FCF97"/>
                </a:solidFill>
                <a:latin typeface="Sora"/>
                <a:ea typeface="Sora"/>
                <a:cs typeface="Sora"/>
              </a:rPr>
              <a:t>Vantagens</a:t>
            </a:r>
          </a:p>
        </p:txBody>
      </p:sp>
      <p:sp>
        <p:nvSpPr>
          <p:cNvPr id="12" name="Text 10"/>
          <p:cNvSpPr/>
          <p:nvPr/>
        </p:nvSpPr>
        <p:spPr>
          <a:xfrm>
            <a:off x="2997200" y="30226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Escala elástica quase ilimitada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Sem CapEx: paga só pelo uso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Implantação rápida e alcance global</a:t>
            </a:r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5000" y="43942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35000" y="4394200"/>
            <a:ext cx="88900" cy="11938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43942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EB6F6F"/>
                </a:solidFill>
                <a:latin typeface="Sora"/>
                <a:ea typeface="Sora"/>
                <a:cs typeface="Sora"/>
              </a:rPr>
              <a:t>Desvantagens</a:t>
            </a:r>
          </a:p>
        </p:txBody>
      </p:sp>
      <p:sp>
        <p:nvSpPr>
          <p:cNvPr id="17" name="Text 15"/>
          <p:cNvSpPr/>
          <p:nvPr/>
        </p:nvSpPr>
        <p:spPr>
          <a:xfrm>
            <a:off x="2997200" y="43942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Menos controle sobre o ambiente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Compliance pode exigir cuidado extra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Custo pode escalar sem governança</a:t>
            </a:r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kern="0" spc="100" dirty="0">
                <a:solidFill>
                  <a:srgbClr val="CCCCCC"/>
                </a:solidFill>
                <a:latin typeface="JetBrains Mono"/>
                <a:ea typeface="JetBrains Mono"/>
                <a:cs typeface="JetBrains Mono"/>
              </a:rPr>
              <a:t>Modelo adotado pela TFTickets — 100% nuvem pública no Azure.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24" name="dgm_chip_Azure">
            <a:extLst>
              <a:ext uri="{FF2B5EF4-FFF2-40B4-BE49-F238E27FC236}">
                <a16:creationId xmlns:a16="http://schemas.microsoft.com/office/drawing/2014/main" id="{C21E2015-C6EC-4064-B139-42F172B22AC5}"/>
              </a:ext>
            </a:extLst>
          </p:cNvPr>
          <p:cNvSpPr/>
          <p:nvPr/>
        </p:nvSpPr>
        <p:spPr>
          <a:xfrm>
            <a:off x="8128561" y="4045819"/>
            <a:ext cx="939800" cy="584200"/>
          </a:xfrm>
          <a:prstGeom prst="roundRect">
            <a:avLst/>
          </a:prstGeom>
          <a:solidFill>
            <a:srgbClr val="0078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200" b="1" dirty="0">
                <a:solidFill>
                  <a:srgbClr val="FFFFFF"/>
                </a:solidFill>
                <a:latin typeface="Sora"/>
              </a:rPr>
              <a:t>     Azure</a:t>
            </a:r>
          </a:p>
        </p:txBody>
      </p:sp>
      <p:sp>
        <p:nvSpPr>
          <p:cNvPr id="25" name="dgm_chip_AWS">
            <a:extLst>
              <a:ext uri="{FF2B5EF4-FFF2-40B4-BE49-F238E27FC236}">
                <a16:creationId xmlns:a16="http://schemas.microsoft.com/office/drawing/2014/main" id="{6039ECFC-BBB2-45E0-848B-902356B56819}"/>
              </a:ext>
            </a:extLst>
          </p:cNvPr>
          <p:cNvSpPr/>
          <p:nvPr/>
        </p:nvSpPr>
        <p:spPr>
          <a:xfrm>
            <a:off x="9546389" y="4039469"/>
            <a:ext cx="939800" cy="584200"/>
          </a:xfrm>
          <a:prstGeom prst="roundRect">
            <a:avLst/>
          </a:prstGeom>
          <a:solidFill>
            <a:srgbClr val="E8912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200" b="1" dirty="0">
                <a:solidFill>
                  <a:srgbClr val="FFFFFF"/>
                </a:solidFill>
                <a:latin typeface="Sora"/>
              </a:rPr>
              <a:t>      AWS</a:t>
            </a:r>
          </a:p>
        </p:txBody>
      </p:sp>
      <p:sp>
        <p:nvSpPr>
          <p:cNvPr id="26" name="dgm_chip_Google">
            <a:extLst>
              <a:ext uri="{FF2B5EF4-FFF2-40B4-BE49-F238E27FC236}">
                <a16:creationId xmlns:a16="http://schemas.microsoft.com/office/drawing/2014/main" id="{42BA9240-7349-4E98-84DB-A373815CE5CA}"/>
              </a:ext>
            </a:extLst>
          </p:cNvPr>
          <p:cNvSpPr/>
          <p:nvPr/>
        </p:nvSpPr>
        <p:spPr>
          <a:xfrm>
            <a:off x="10905289" y="4045819"/>
            <a:ext cx="939800" cy="584200"/>
          </a:xfrm>
          <a:prstGeom prst="roundRect">
            <a:avLst/>
          </a:prstGeom>
          <a:solidFill>
            <a:srgbClr val="2E8B5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200" b="1" dirty="0">
                <a:solidFill>
                  <a:srgbClr val="FFFFFF"/>
                </a:solidFill>
                <a:latin typeface="Sora"/>
              </a:rPr>
              <a:t>   Google</a:t>
            </a:r>
          </a:p>
        </p:txBody>
      </p:sp>
      <p:sp>
        <p:nvSpPr>
          <p:cNvPr id="36" name="dgm_cap">
            <a:extLst>
              <a:ext uri="{FF2B5EF4-FFF2-40B4-BE49-F238E27FC236}">
                <a16:creationId xmlns:a16="http://schemas.microsoft.com/office/drawing/2014/main" id="{95E62EEB-C6B2-4A16-BF29-8DA7A7D6205D}"/>
              </a:ext>
            </a:extLst>
          </p:cNvPr>
          <p:cNvSpPr txBox="1"/>
          <p:nvPr/>
        </p:nvSpPr>
        <p:spPr>
          <a:xfrm>
            <a:off x="8041640" y="4722796"/>
            <a:ext cx="3657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i="1" dirty="0">
                <a:solidFill>
                  <a:srgbClr val="B8B8B8"/>
                </a:solidFill>
                <a:latin typeface="Sora"/>
              </a:rPr>
              <a:t>Exemplos de provedores de nuvem pública.</a:t>
            </a:r>
          </a:p>
        </p:txBody>
      </p:sp>
      <p:sp>
        <p:nvSpPr>
          <p:cNvPr id="37" name="AutoShape 2">
            <a:extLst>
              <a:ext uri="{FF2B5EF4-FFF2-40B4-BE49-F238E27FC236}">
                <a16:creationId xmlns:a16="http://schemas.microsoft.com/office/drawing/2014/main" id="{9230441A-702E-0B5F-8E24-7913A6306E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5730E977-AF36-CCE1-3EE7-B10C33E41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561" y="1164610"/>
            <a:ext cx="3570679" cy="267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75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IMPLANTAÇÃO · 02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Nuvem Privada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510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510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Característica</a:t>
            </a:r>
          </a:p>
        </p:txBody>
      </p:sp>
      <p:sp>
        <p:nvSpPr>
          <p:cNvPr id="7" name="Text 5"/>
          <p:cNvSpPr/>
          <p:nvPr/>
        </p:nvSpPr>
        <p:spPr>
          <a:xfrm>
            <a:off x="2997200" y="16510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Infraestrutura dedicada a uma única organização — on-premises ou hospedada por um provedor. Recursos não são compartilhados com outros clientes.</a:t>
            </a:r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5000" y="30226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0226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6FCF97"/>
                </a:solidFill>
                <a:latin typeface="Sora"/>
                <a:ea typeface="Sora"/>
                <a:cs typeface="Sora"/>
              </a:rPr>
              <a:t>Vantagens</a:t>
            </a:r>
          </a:p>
        </p:txBody>
      </p:sp>
      <p:sp>
        <p:nvSpPr>
          <p:cNvPr id="12" name="Text 10"/>
          <p:cNvSpPr/>
          <p:nvPr/>
        </p:nvSpPr>
        <p:spPr>
          <a:xfrm>
            <a:off x="2997200" y="30226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Controle e isolamento totais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Atende compliance e dados sensíveis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Desempenho previsível e dedicado</a:t>
            </a:r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5000" y="43942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43942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EB6F6F"/>
                </a:solidFill>
                <a:latin typeface="Sora"/>
                <a:ea typeface="Sora"/>
                <a:cs typeface="Sora"/>
              </a:rPr>
              <a:t>Desvantagens</a:t>
            </a:r>
          </a:p>
        </p:txBody>
      </p:sp>
      <p:sp>
        <p:nvSpPr>
          <p:cNvPr id="17" name="Text 15"/>
          <p:cNvSpPr/>
          <p:nvPr/>
        </p:nvSpPr>
        <p:spPr>
          <a:xfrm>
            <a:off x="2997200" y="43942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Alto CapEx e custo de manutenção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Escala limitada ao hardware próprio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Maior responsabilidade operacional</a:t>
            </a:r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kern="0" spc="100" dirty="0">
                <a:solidFill>
                  <a:srgbClr val="CCCCCC"/>
                </a:solidFill>
                <a:latin typeface="JetBrains Mono"/>
                <a:ea typeface="JetBrains Mono"/>
                <a:cs typeface="JetBrains Mono"/>
              </a:rPr>
              <a:t>Comum em setores regulados — bancos, governo e saúde.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35" name="dgm_cap">
            <a:extLst>
              <a:ext uri="{FF2B5EF4-FFF2-40B4-BE49-F238E27FC236}">
                <a16:creationId xmlns:a16="http://schemas.microsoft.com/office/drawing/2014/main" id="{B5D8BEC0-6E0A-4310-A2FE-5EB5879A3650}"/>
              </a:ext>
            </a:extLst>
          </p:cNvPr>
          <p:cNvSpPr txBox="1"/>
          <p:nvPr/>
        </p:nvSpPr>
        <p:spPr>
          <a:xfrm>
            <a:off x="7950200" y="4445000"/>
            <a:ext cx="35814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i="1">
                <a:solidFill>
                  <a:srgbClr val="B8B8B8"/>
                </a:solidFill>
                <a:latin typeface="Sora"/>
              </a:rPr>
              <a:t>Recursos exclusivos de uma organização — isolados por um perímetro de segurança.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1A2C26D2-1919-9131-A1AC-F4DA7B41F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429" y="1645920"/>
            <a:ext cx="3379911" cy="2534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2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IMPLANTAÇÃO · 03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Nuvem Híbrida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510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16510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F5E070"/>
                </a:solidFill>
                <a:latin typeface="Sora"/>
                <a:ea typeface="Sora"/>
                <a:cs typeface="Sora"/>
              </a:rPr>
              <a:t>Característica</a:t>
            </a:r>
          </a:p>
        </p:txBody>
      </p:sp>
      <p:sp>
        <p:nvSpPr>
          <p:cNvPr id="7" name="Text 5"/>
          <p:cNvSpPr/>
          <p:nvPr/>
        </p:nvSpPr>
        <p:spPr>
          <a:xfrm>
            <a:off x="2997200" y="16510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Combina nuvem pública e privada, integradas por VPN ou ExpressRoute. Cargas e dados transitam entre os dois ambientes conforme a necessidade.</a:t>
            </a:r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35000" y="30226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0226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6FCF97"/>
                </a:solidFill>
                <a:latin typeface="Sora"/>
                <a:ea typeface="Sora"/>
                <a:cs typeface="Sora"/>
              </a:rPr>
              <a:t>Vantagens</a:t>
            </a:r>
          </a:p>
        </p:txBody>
      </p:sp>
      <p:sp>
        <p:nvSpPr>
          <p:cNvPr id="12" name="Text 10"/>
          <p:cNvSpPr/>
          <p:nvPr/>
        </p:nvSpPr>
        <p:spPr>
          <a:xfrm>
            <a:off x="2997200" y="30226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Flexibilidade entre os dois mundos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Migração gradual sem big-bang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Dados sensíveis ficam no privado</a:t>
            </a:r>
          </a:p>
        </p:txBody>
      </p:sp>
      <p:sp>
        <p:nvSpPr>
          <p:cNvPr id="13" name="Text 1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5000" y="4394200"/>
            <a:ext cx="7112000" cy="1193800"/>
          </a:xfrm>
          <a:prstGeom prst="roundRect">
            <a:avLst>
              <a:gd name="adj" fmla="val 692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91440" cy="11887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14400" y="4394200"/>
            <a:ext cx="1905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500" b="1" dirty="0">
                <a:solidFill>
                  <a:srgbClr val="EB6F6F"/>
                </a:solidFill>
                <a:latin typeface="Sora"/>
                <a:ea typeface="Sora"/>
                <a:cs typeface="Sora"/>
              </a:rPr>
              <a:t>Desvantagens</a:t>
            </a:r>
          </a:p>
        </p:txBody>
      </p:sp>
      <p:sp>
        <p:nvSpPr>
          <p:cNvPr id="17" name="Text 15"/>
          <p:cNvSpPr/>
          <p:nvPr/>
        </p:nvSpPr>
        <p:spPr>
          <a:xfrm>
            <a:off x="2997200" y="4394200"/>
            <a:ext cx="4572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Maior complexidade de gestão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Integração e rede exigem expertise</a:t>
            </a:r>
          </a:p>
          <a:p>
            <a:pPr marL="171450" indent="-171450" algn="l">
              <a:lnSpc>
                <a:spcPct val="112000"/>
              </a:lnSpc>
              <a:buFont typeface="Arial"/>
              <a:buChar char="•"/>
            </a:pPr>
            <a:r>
              <a:rPr lang="pt-BR" sz="13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Dois ambientes para governar</a:t>
            </a:r>
          </a:p>
        </p:txBody>
      </p:sp>
      <p:sp>
        <p:nvSpPr>
          <p:cNvPr id="18" name="Text 16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000" kern="0" spc="100" dirty="0">
                <a:solidFill>
                  <a:srgbClr val="CCCCCC"/>
                </a:solidFill>
                <a:latin typeface="JetBrains Mono"/>
                <a:ea typeface="JetBrains Mono"/>
                <a:cs typeface="JetBrains Mono"/>
              </a:rPr>
              <a:t>Caminho típico de migração para quem ainda tem legado on-premises.</a:t>
            </a:r>
          </a:p>
        </p:txBody>
      </p:sp>
      <p:sp>
        <p:nvSpPr>
          <p:cNvPr id="20" name="Shape 18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F1DE92A-D823-BBE0-500C-8C6BE4E6D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400" y="1651000"/>
            <a:ext cx="3672840" cy="2754630"/>
          </a:xfrm>
          <a:prstGeom prst="rect">
            <a:avLst/>
          </a:prstGeom>
        </p:spPr>
      </p:pic>
      <p:sp>
        <p:nvSpPr>
          <p:cNvPr id="34" name="dgm_link">
            <a:extLst>
              <a:ext uri="{FF2B5EF4-FFF2-40B4-BE49-F238E27FC236}">
                <a16:creationId xmlns:a16="http://schemas.microsoft.com/office/drawing/2014/main" id="{467B580A-588B-4B99-9807-2EEF831EEAFF}"/>
              </a:ext>
            </a:extLst>
          </p:cNvPr>
          <p:cNvSpPr txBox="1"/>
          <p:nvPr/>
        </p:nvSpPr>
        <p:spPr>
          <a:xfrm>
            <a:off x="9383564" y="3245500"/>
            <a:ext cx="2080126" cy="215444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800" b="1" dirty="0">
                <a:solidFill>
                  <a:srgbClr val="F5E070"/>
                </a:solidFill>
                <a:latin typeface="JetBrains Mono"/>
              </a:rPr>
              <a:t>VPN /ExpressRoute</a:t>
            </a:r>
          </a:p>
        </p:txBody>
      </p:sp>
    </p:spTree>
    <p:extLst>
      <p:ext uri="{BB962C8B-B14F-4D97-AF65-F5344CB8AC3E}">
        <p14:creationId xmlns:p14="http://schemas.microsoft.com/office/powerpoint/2010/main" val="6079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64E64A-28C3-F908-03B7-3904B102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10B66E-8584-327A-D8B0-6A9BE148713A}"/>
              </a:ext>
            </a:extLst>
          </p:cNvPr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0000" dirty="0"/>
          </a:p>
        </p:txBody>
      </p:sp>
      <p:pic>
        <p:nvPicPr>
          <p:cNvPr id="3" name="Image 0" descr="logo_prime.png">
            <a:extLst>
              <a:ext uri="{FF2B5EF4-FFF2-40B4-BE49-F238E27FC236}">
                <a16:creationId xmlns:a16="http://schemas.microsoft.com/office/drawing/2014/main" id="{74C07795-ED52-3B69-2F17-171D5A4D94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755006C-CDD2-8628-DAE5-38D641D4E65F}"/>
              </a:ext>
            </a:extLst>
          </p:cNvPr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1089596-67BC-A6DB-CEBA-54109AD2F5AD}"/>
              </a:ext>
            </a:extLst>
          </p:cNvPr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Tipos</a:t>
            </a: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de </a:t>
            </a:r>
            <a:r>
              <a:rPr lang="en-US" sz="46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serviços</a:t>
            </a: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em </a:t>
            </a:r>
            <a:r>
              <a:rPr lang="en-US" sz="4600" b="1" dirty="0" err="1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nuvem</a:t>
            </a:r>
            <a:endParaRPr lang="en-US" sz="46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8FB282B-C420-B377-3B2F-B2B6757E009A}"/>
              </a:ext>
            </a:extLst>
          </p:cNvPr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5E59F1E-7E47-E7CF-1D2C-51802ABFB63F}"/>
              </a:ext>
            </a:extLst>
          </p:cNvPr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9337B2C-8CDD-3135-95CD-BC34678C1805}"/>
              </a:ext>
            </a:extLst>
          </p:cNvPr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92305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SERVIÇO · 01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IaaS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4" name="iaas_sec_DEFI">
            <a:extLst>
              <a:ext uri="{FF2B5EF4-FFF2-40B4-BE49-F238E27FC236}">
                <a16:creationId xmlns:a16="http://schemas.microsoft.com/office/drawing/2014/main" id="{2B0D6803-2C64-4ED3-8EE8-F6D23D1EFA0F}"/>
              </a:ext>
            </a:extLst>
          </p:cNvPr>
          <p:cNvSpPr txBox="1"/>
          <p:nvPr/>
        </p:nvSpPr>
        <p:spPr>
          <a:xfrm>
            <a:off x="635000" y="1625600"/>
            <a:ext cx="711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C9A227"/>
                </a:solidFill>
                <a:latin typeface="JetBrains Mono"/>
              </a:rPr>
              <a:t>DEFINIÇÃO</a:t>
            </a:r>
          </a:p>
        </p:txBody>
      </p:sp>
      <p:sp>
        <p:nvSpPr>
          <p:cNvPr id="5" name="iaas_defbox">
            <a:extLst>
              <a:ext uri="{FF2B5EF4-FFF2-40B4-BE49-F238E27FC236}">
                <a16:creationId xmlns:a16="http://schemas.microsoft.com/office/drawing/2014/main" id="{81C97E98-6EF9-4514-8F42-5F918B787B84}"/>
              </a:ext>
            </a:extLst>
          </p:cNvPr>
          <p:cNvSpPr/>
          <p:nvPr/>
        </p:nvSpPr>
        <p:spPr>
          <a:xfrm>
            <a:off x="635000" y="1930400"/>
            <a:ext cx="7112000" cy="12192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iaas_deftxt">
            <a:extLst>
              <a:ext uri="{FF2B5EF4-FFF2-40B4-BE49-F238E27FC236}">
                <a16:creationId xmlns:a16="http://schemas.microsoft.com/office/drawing/2014/main" id="{80064AFB-A92D-4D0F-9DB3-AFBAC49C20D3}"/>
              </a:ext>
            </a:extLst>
          </p:cNvPr>
          <p:cNvSpPr txBox="1"/>
          <p:nvPr/>
        </p:nvSpPr>
        <p:spPr>
          <a:xfrm>
            <a:off x="889000" y="2057400"/>
            <a:ext cx="6604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FFFFFF"/>
                </a:solidFill>
                <a:latin typeface="Sora"/>
              </a:rPr>
              <a:t>Infrastructure as a Service (IaaS) entrega recursos de computação fundamentais — servidores virtuais, armazenamento e rede — sob demanda. Você controla o sistema operacional, as configurações e as aplicações; o Azure cuida da infraestrutura física.</a:t>
            </a:r>
          </a:p>
        </p:txBody>
      </p:sp>
      <p:sp>
        <p:nvSpPr>
          <p:cNvPr id="7" name="iaas_sec_CASO">
            <a:extLst>
              <a:ext uri="{FF2B5EF4-FFF2-40B4-BE49-F238E27FC236}">
                <a16:creationId xmlns:a16="http://schemas.microsoft.com/office/drawing/2014/main" id="{C11958DA-4061-42C3-A35E-883193E61AA1}"/>
              </a:ext>
            </a:extLst>
          </p:cNvPr>
          <p:cNvSpPr txBox="1"/>
          <p:nvPr/>
        </p:nvSpPr>
        <p:spPr>
          <a:xfrm>
            <a:off x="635000" y="4572000"/>
            <a:ext cx="711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C9A227"/>
                </a:solidFill>
                <a:latin typeface="JetBrains Mono"/>
              </a:rPr>
              <a:t>CASOS DE USO</a:t>
            </a:r>
          </a:p>
        </p:txBody>
      </p:sp>
      <p:sp>
        <p:nvSpPr>
          <p:cNvPr id="8" name="iaas_caso0">
            <a:extLst>
              <a:ext uri="{FF2B5EF4-FFF2-40B4-BE49-F238E27FC236}">
                <a16:creationId xmlns:a16="http://schemas.microsoft.com/office/drawing/2014/main" id="{8D898637-2E4E-476B-BC7B-2041C4566EAB}"/>
              </a:ext>
            </a:extLst>
          </p:cNvPr>
          <p:cNvSpPr txBox="1"/>
          <p:nvPr/>
        </p:nvSpPr>
        <p:spPr>
          <a:xfrm>
            <a:off x="1016000" y="49530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CCCCCC"/>
                </a:solidFill>
                <a:latin typeface="Sora"/>
              </a:rPr>
              <a:t>Migração lift-and-shift de aplicações locais</a:t>
            </a:r>
          </a:p>
        </p:txBody>
      </p:sp>
      <p:sp>
        <p:nvSpPr>
          <p:cNvPr id="9" name="iaas_caso1">
            <a:extLst>
              <a:ext uri="{FF2B5EF4-FFF2-40B4-BE49-F238E27FC236}">
                <a16:creationId xmlns:a16="http://schemas.microsoft.com/office/drawing/2014/main" id="{B6B2E696-CB35-430B-AC65-B747531484F1}"/>
              </a:ext>
            </a:extLst>
          </p:cNvPr>
          <p:cNvSpPr txBox="1"/>
          <p:nvPr/>
        </p:nvSpPr>
        <p:spPr>
          <a:xfrm>
            <a:off x="1016000" y="5359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CCCCCC"/>
                </a:solidFill>
                <a:latin typeface="Sora"/>
              </a:rPr>
              <a:t>Desenvolvimento e teste em ambientes idênticos à produção</a:t>
            </a:r>
          </a:p>
        </p:txBody>
      </p:sp>
      <p:sp>
        <p:nvSpPr>
          <p:cNvPr id="10" name="iaas_caso2">
            <a:extLst>
              <a:ext uri="{FF2B5EF4-FFF2-40B4-BE49-F238E27FC236}">
                <a16:creationId xmlns:a16="http://schemas.microsoft.com/office/drawing/2014/main" id="{372B596C-DCA4-42C5-BCAE-E596A8E7273A}"/>
              </a:ext>
            </a:extLst>
          </p:cNvPr>
          <p:cNvSpPr txBox="1"/>
          <p:nvPr/>
        </p:nvSpPr>
        <p:spPr>
          <a:xfrm>
            <a:off x="1016000" y="57658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CCCCCC"/>
                </a:solidFill>
                <a:latin typeface="Sora"/>
              </a:rPr>
              <a:t>Aplicações que exigem controle total do SO</a:t>
            </a:r>
          </a:p>
        </p:txBody>
      </p:sp>
      <p:sp>
        <p:nvSpPr>
          <p:cNvPr id="11" name="iaas_caso3">
            <a:extLst>
              <a:ext uri="{FF2B5EF4-FFF2-40B4-BE49-F238E27FC236}">
                <a16:creationId xmlns:a16="http://schemas.microsoft.com/office/drawing/2014/main" id="{C7D23FE7-DB2E-4C22-996D-7F7932CBF769}"/>
              </a:ext>
            </a:extLst>
          </p:cNvPr>
          <p:cNvSpPr txBox="1"/>
          <p:nvPr/>
        </p:nvSpPr>
        <p:spPr>
          <a:xfrm>
            <a:off x="1016000" y="6172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>
                <a:solidFill>
                  <a:srgbClr val="CCCCCC"/>
                </a:solidFill>
                <a:latin typeface="Sora"/>
              </a:rPr>
              <a:t>Recuperação de desastres e continuidade de negócios</a:t>
            </a:r>
          </a:p>
        </p:txBody>
      </p:sp>
      <p:sp>
        <p:nvSpPr>
          <p:cNvPr id="15" name="iaas_seccomp">
            <a:extLst>
              <a:ext uri="{FF2B5EF4-FFF2-40B4-BE49-F238E27FC236}">
                <a16:creationId xmlns:a16="http://schemas.microsoft.com/office/drawing/2014/main" id="{2FC0E0B9-AD86-4E5F-8934-D22F90A5FE67}"/>
              </a:ext>
            </a:extLst>
          </p:cNvPr>
          <p:cNvSpPr txBox="1"/>
          <p:nvPr/>
        </p:nvSpPr>
        <p:spPr>
          <a:xfrm>
            <a:off x="635000" y="3276600"/>
            <a:ext cx="711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300" b="1">
                <a:solidFill>
                  <a:srgbClr val="C9A227"/>
                </a:solidFill>
                <a:latin typeface="JetBrains Mono"/>
              </a:rPr>
              <a:t>COMPONENTES PRINCIPAIS</a:t>
            </a:r>
          </a:p>
        </p:txBody>
      </p:sp>
      <p:sp>
        <p:nvSpPr>
          <p:cNvPr id="16" name="iaas_chip0">
            <a:extLst>
              <a:ext uri="{FF2B5EF4-FFF2-40B4-BE49-F238E27FC236}">
                <a16:creationId xmlns:a16="http://schemas.microsoft.com/office/drawing/2014/main" id="{0CED1845-925C-4FA8-800A-980D37A9015A}"/>
              </a:ext>
            </a:extLst>
          </p:cNvPr>
          <p:cNvSpPr/>
          <p:nvPr/>
        </p:nvSpPr>
        <p:spPr>
          <a:xfrm>
            <a:off x="635000" y="3632200"/>
            <a:ext cx="1793239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Virtual Networks</a:t>
            </a:r>
          </a:p>
        </p:txBody>
      </p:sp>
      <p:sp>
        <p:nvSpPr>
          <p:cNvPr id="17" name="iaas_chip1">
            <a:extLst>
              <a:ext uri="{FF2B5EF4-FFF2-40B4-BE49-F238E27FC236}">
                <a16:creationId xmlns:a16="http://schemas.microsoft.com/office/drawing/2014/main" id="{BFB0FE96-517E-41D9-888C-A99D603F327E}"/>
              </a:ext>
            </a:extLst>
          </p:cNvPr>
          <p:cNvSpPr/>
          <p:nvPr/>
        </p:nvSpPr>
        <p:spPr>
          <a:xfrm>
            <a:off x="2529840" y="3632200"/>
            <a:ext cx="8890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NSG</a:t>
            </a:r>
          </a:p>
        </p:txBody>
      </p:sp>
      <p:sp>
        <p:nvSpPr>
          <p:cNvPr id="18" name="iaas_chip2">
            <a:extLst>
              <a:ext uri="{FF2B5EF4-FFF2-40B4-BE49-F238E27FC236}">
                <a16:creationId xmlns:a16="http://schemas.microsoft.com/office/drawing/2014/main" id="{2183BA17-5F56-4C72-924A-EA21A644C3EE}"/>
              </a:ext>
            </a:extLst>
          </p:cNvPr>
          <p:cNvSpPr/>
          <p:nvPr/>
        </p:nvSpPr>
        <p:spPr>
          <a:xfrm>
            <a:off x="3520440" y="3632200"/>
            <a:ext cx="8890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VMs</a:t>
            </a:r>
          </a:p>
        </p:txBody>
      </p:sp>
      <p:sp>
        <p:nvSpPr>
          <p:cNvPr id="19" name="iaas_chip3">
            <a:extLst>
              <a:ext uri="{FF2B5EF4-FFF2-40B4-BE49-F238E27FC236}">
                <a16:creationId xmlns:a16="http://schemas.microsoft.com/office/drawing/2014/main" id="{38499831-2779-43CE-90CE-BE855FCCE091}"/>
              </a:ext>
            </a:extLst>
          </p:cNvPr>
          <p:cNvSpPr/>
          <p:nvPr/>
        </p:nvSpPr>
        <p:spPr>
          <a:xfrm>
            <a:off x="4511040" y="3632200"/>
            <a:ext cx="151892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Managed Disks</a:t>
            </a:r>
          </a:p>
        </p:txBody>
      </p:sp>
      <p:sp>
        <p:nvSpPr>
          <p:cNvPr id="20" name="iaas_chip4">
            <a:extLst>
              <a:ext uri="{FF2B5EF4-FFF2-40B4-BE49-F238E27FC236}">
                <a16:creationId xmlns:a16="http://schemas.microsoft.com/office/drawing/2014/main" id="{13687301-1098-42B7-B8A1-61E30D0BAB44}"/>
              </a:ext>
            </a:extLst>
          </p:cNvPr>
          <p:cNvSpPr/>
          <p:nvPr/>
        </p:nvSpPr>
        <p:spPr>
          <a:xfrm>
            <a:off x="6131560" y="3632200"/>
            <a:ext cx="161036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Load Balancers</a:t>
            </a:r>
          </a:p>
        </p:txBody>
      </p:sp>
      <p:sp>
        <p:nvSpPr>
          <p:cNvPr id="21" name="iaas_chip5">
            <a:extLst>
              <a:ext uri="{FF2B5EF4-FFF2-40B4-BE49-F238E27FC236}">
                <a16:creationId xmlns:a16="http://schemas.microsoft.com/office/drawing/2014/main" id="{87545DE6-8601-4577-A7C8-A9F7CC92AF5E}"/>
              </a:ext>
            </a:extLst>
          </p:cNvPr>
          <p:cNvSpPr/>
          <p:nvPr/>
        </p:nvSpPr>
        <p:spPr>
          <a:xfrm>
            <a:off x="635000" y="4064000"/>
            <a:ext cx="151892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VM Scale Sets</a:t>
            </a:r>
          </a:p>
        </p:txBody>
      </p:sp>
      <p:sp>
        <p:nvSpPr>
          <p:cNvPr id="22" name="iaas_chip6">
            <a:extLst>
              <a:ext uri="{FF2B5EF4-FFF2-40B4-BE49-F238E27FC236}">
                <a16:creationId xmlns:a16="http://schemas.microsoft.com/office/drawing/2014/main" id="{20E39834-7484-4226-A21A-DEAB61136472}"/>
              </a:ext>
            </a:extLst>
          </p:cNvPr>
          <p:cNvSpPr/>
          <p:nvPr/>
        </p:nvSpPr>
        <p:spPr>
          <a:xfrm>
            <a:off x="2255520" y="4064000"/>
            <a:ext cx="97028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Storage</a:t>
            </a:r>
          </a:p>
        </p:txBody>
      </p:sp>
      <p:sp>
        <p:nvSpPr>
          <p:cNvPr id="26" name="iaas_chip7">
            <a:extLst>
              <a:ext uri="{FF2B5EF4-FFF2-40B4-BE49-F238E27FC236}">
                <a16:creationId xmlns:a16="http://schemas.microsoft.com/office/drawing/2014/main" id="{CFE96F66-7C0A-447F-A33B-F7B3BDB150C7}"/>
              </a:ext>
            </a:extLst>
          </p:cNvPr>
          <p:cNvSpPr/>
          <p:nvPr/>
        </p:nvSpPr>
        <p:spPr>
          <a:xfrm>
            <a:off x="3327400" y="4064000"/>
            <a:ext cx="12446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Backup/ASR</a:t>
            </a:r>
          </a:p>
        </p:txBody>
      </p:sp>
      <p:pic>
        <p:nvPicPr>
          <p:cNvPr id="27" name="Graphic 27" descr="Check caso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4953000"/>
            <a:ext cx="228600" cy="228600"/>
          </a:xfrm>
          <a:prstGeom prst="rect">
            <a:avLst/>
          </a:prstGeom>
        </p:spPr>
      </p:pic>
      <p:pic>
        <p:nvPicPr>
          <p:cNvPr id="28" name="Graphic 28" descr="Check caso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359400"/>
            <a:ext cx="228600" cy="228600"/>
          </a:xfrm>
          <a:prstGeom prst="rect">
            <a:avLst/>
          </a:prstGeom>
        </p:spPr>
      </p:pic>
      <p:pic>
        <p:nvPicPr>
          <p:cNvPr id="29" name="Graphic 29" descr="Check caso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765800"/>
            <a:ext cx="228600" cy="228600"/>
          </a:xfrm>
          <a:prstGeom prst="rect">
            <a:avLst/>
          </a:prstGeom>
        </p:spPr>
      </p:pic>
      <p:pic>
        <p:nvPicPr>
          <p:cNvPr id="30" name="Graphic 30" descr="Check caso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172200"/>
            <a:ext cx="228600" cy="228600"/>
          </a:xfrm>
          <a:prstGeom prst="rect">
            <a:avLst/>
          </a:prstGeom>
        </p:spPr>
      </p:pic>
      <p:sp>
        <p:nvSpPr>
          <p:cNvPr id="31" name="AutoShape 2">
            <a:extLst>
              <a:ext uri="{FF2B5EF4-FFF2-40B4-BE49-F238E27FC236}">
                <a16:creationId xmlns:a16="http://schemas.microsoft.com/office/drawing/2014/main" id="{3E834CA5-EBFF-43F4-77CE-5C5C924B6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812A2721-2E19-E476-3935-463F25EBA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920" y="3403600"/>
            <a:ext cx="368808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19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SERVIÇO · 02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PaaS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4" name="iaas_sec_DEFI">
            <a:extLst>
              <a:ext uri="{FF2B5EF4-FFF2-40B4-BE49-F238E27FC236}">
                <a16:creationId xmlns:a16="http://schemas.microsoft.com/office/drawing/2014/main" id="{2B0D6803-2C64-4ED3-8EE8-F6D23D1EFA0F}"/>
              </a:ext>
            </a:extLst>
          </p:cNvPr>
          <p:cNvSpPr txBox="1"/>
          <p:nvPr/>
        </p:nvSpPr>
        <p:spPr>
          <a:xfrm>
            <a:off x="635000" y="16256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DEFINIÇÃO</a:t>
            </a:r>
          </a:p>
        </p:txBody>
      </p:sp>
      <p:sp>
        <p:nvSpPr>
          <p:cNvPr id="5" name="iaas_defbox">
            <a:extLst>
              <a:ext uri="{FF2B5EF4-FFF2-40B4-BE49-F238E27FC236}">
                <a16:creationId xmlns:a16="http://schemas.microsoft.com/office/drawing/2014/main" id="{81C97E98-6EF9-4514-8F42-5F918B787B84}"/>
              </a:ext>
            </a:extLst>
          </p:cNvPr>
          <p:cNvSpPr/>
          <p:nvPr/>
        </p:nvSpPr>
        <p:spPr>
          <a:xfrm>
            <a:off x="635000" y="1930400"/>
            <a:ext cx="7112000" cy="12192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iaas_deftxt">
            <a:extLst>
              <a:ext uri="{FF2B5EF4-FFF2-40B4-BE49-F238E27FC236}">
                <a16:creationId xmlns:a16="http://schemas.microsoft.com/office/drawing/2014/main" id="{80064AFB-A92D-4D0F-9DB3-AFBAC49C20D3}"/>
              </a:ext>
            </a:extLst>
          </p:cNvPr>
          <p:cNvSpPr txBox="1"/>
          <p:nvPr/>
        </p:nvSpPr>
        <p:spPr>
          <a:xfrm>
            <a:off x="889000" y="2057400"/>
            <a:ext cx="6604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pt-BR" sz="12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Platform as a Service (PaaS) entrega um ambiente completo para desenvolver, executar e gerenciar aplicações sem lidar com a infraestrutura. O provedor cuida do SO, middleware e runtime; o desenvolvedor foca no código e nos dados.</a:t>
            </a:r>
          </a:p>
        </p:txBody>
      </p:sp>
      <p:sp>
        <p:nvSpPr>
          <p:cNvPr id="7" name="iaas_sec_CASO">
            <a:extLst>
              <a:ext uri="{FF2B5EF4-FFF2-40B4-BE49-F238E27FC236}">
                <a16:creationId xmlns:a16="http://schemas.microsoft.com/office/drawing/2014/main" id="{C11958DA-4061-42C3-A35E-883193E61AA1}"/>
              </a:ext>
            </a:extLst>
          </p:cNvPr>
          <p:cNvSpPr txBox="1"/>
          <p:nvPr/>
        </p:nvSpPr>
        <p:spPr>
          <a:xfrm>
            <a:off x="635000" y="45720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CARACTERÍSTICAS-CHAVE</a:t>
            </a:r>
          </a:p>
        </p:txBody>
      </p:sp>
      <p:sp>
        <p:nvSpPr>
          <p:cNvPr id="8" name="iaas_caso0">
            <a:extLst>
              <a:ext uri="{FF2B5EF4-FFF2-40B4-BE49-F238E27FC236}">
                <a16:creationId xmlns:a16="http://schemas.microsoft.com/office/drawing/2014/main" id="{8D898637-2E4E-476B-BC7B-2041C4566EAB}"/>
              </a:ext>
            </a:extLst>
          </p:cNvPr>
          <p:cNvSpPr txBox="1"/>
          <p:nvPr/>
        </p:nvSpPr>
        <p:spPr>
          <a:xfrm>
            <a:off x="1016000" y="49530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Patches e atualizações gerenciados automaticamente</a:t>
            </a:r>
          </a:p>
        </p:txBody>
      </p:sp>
      <p:sp>
        <p:nvSpPr>
          <p:cNvPr id="9" name="iaas_caso1">
            <a:extLst>
              <a:ext uri="{FF2B5EF4-FFF2-40B4-BE49-F238E27FC236}">
                <a16:creationId xmlns:a16="http://schemas.microsoft.com/office/drawing/2014/main" id="{B6B2E696-CB35-430B-AC65-B747531484F1}"/>
              </a:ext>
            </a:extLst>
          </p:cNvPr>
          <p:cNvSpPr txBox="1"/>
          <p:nvPr/>
        </p:nvSpPr>
        <p:spPr>
          <a:xfrm>
            <a:off x="1016000" y="5359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Escala automática horizontal e vertical (auto-scaling)</a:t>
            </a:r>
          </a:p>
        </p:txBody>
      </p:sp>
      <p:sp>
        <p:nvSpPr>
          <p:cNvPr id="10" name="iaas_caso2">
            <a:extLst>
              <a:ext uri="{FF2B5EF4-FFF2-40B4-BE49-F238E27FC236}">
                <a16:creationId xmlns:a16="http://schemas.microsoft.com/office/drawing/2014/main" id="{372B596C-DCA4-42C5-BCAE-E596A8E7273A}"/>
              </a:ext>
            </a:extLst>
          </p:cNvPr>
          <p:cNvSpPr txBox="1"/>
          <p:nvPr/>
        </p:nvSpPr>
        <p:spPr>
          <a:xfrm>
            <a:off x="1016000" y="57658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Alta disponibilidade e SLAs de nível empresarial</a:t>
            </a:r>
          </a:p>
        </p:txBody>
      </p:sp>
      <p:sp>
        <p:nvSpPr>
          <p:cNvPr id="11" name="iaas_caso3">
            <a:extLst>
              <a:ext uri="{FF2B5EF4-FFF2-40B4-BE49-F238E27FC236}">
                <a16:creationId xmlns:a16="http://schemas.microsoft.com/office/drawing/2014/main" id="{C7D23FE7-DB2E-4C22-996D-7F7932CBF769}"/>
              </a:ext>
            </a:extLst>
          </p:cNvPr>
          <p:cNvSpPr txBox="1"/>
          <p:nvPr/>
        </p:nvSpPr>
        <p:spPr>
          <a:xfrm>
            <a:off x="1016000" y="6172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CI/CD, telemetria e monitoramento integrados</a:t>
            </a:r>
          </a:p>
        </p:txBody>
      </p:sp>
      <p:sp>
        <p:nvSpPr>
          <p:cNvPr id="15" name="iaas_seccomp">
            <a:extLst>
              <a:ext uri="{FF2B5EF4-FFF2-40B4-BE49-F238E27FC236}">
                <a16:creationId xmlns:a16="http://schemas.microsoft.com/office/drawing/2014/main" id="{2FC0E0B9-AD86-4E5F-8934-D22F90A5FE67}"/>
              </a:ext>
            </a:extLst>
          </p:cNvPr>
          <p:cNvSpPr txBox="1"/>
          <p:nvPr/>
        </p:nvSpPr>
        <p:spPr>
          <a:xfrm>
            <a:off x="635000" y="32766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SERVIÇOS AZURE PaaS</a:t>
            </a:r>
          </a:p>
        </p:txBody>
      </p:sp>
      <p:sp>
        <p:nvSpPr>
          <p:cNvPr id="16" name="iaas_chip0">
            <a:extLst>
              <a:ext uri="{FF2B5EF4-FFF2-40B4-BE49-F238E27FC236}">
                <a16:creationId xmlns:a16="http://schemas.microsoft.com/office/drawing/2014/main" id="{0CED1845-925C-4FA8-800A-980D37A9015A}"/>
              </a:ext>
            </a:extLst>
          </p:cNvPr>
          <p:cNvSpPr/>
          <p:nvPr/>
        </p:nvSpPr>
        <p:spPr>
          <a:xfrm>
            <a:off x="635000" y="3632200"/>
            <a:ext cx="133604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App Service</a:t>
            </a:r>
          </a:p>
        </p:txBody>
      </p:sp>
      <p:sp>
        <p:nvSpPr>
          <p:cNvPr id="17" name="iaas_chip1">
            <a:extLst>
              <a:ext uri="{FF2B5EF4-FFF2-40B4-BE49-F238E27FC236}">
                <a16:creationId xmlns:a16="http://schemas.microsoft.com/office/drawing/2014/main" id="{BFB0FE96-517E-41D9-888C-A99D603F327E}"/>
              </a:ext>
            </a:extLst>
          </p:cNvPr>
          <p:cNvSpPr/>
          <p:nvPr/>
        </p:nvSpPr>
        <p:spPr>
          <a:xfrm>
            <a:off x="2072639" y="3632200"/>
            <a:ext cx="17018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Azure Functions</a:t>
            </a:r>
          </a:p>
        </p:txBody>
      </p:sp>
      <p:sp>
        <p:nvSpPr>
          <p:cNvPr id="18" name="iaas_chip2">
            <a:extLst>
              <a:ext uri="{FF2B5EF4-FFF2-40B4-BE49-F238E27FC236}">
                <a16:creationId xmlns:a16="http://schemas.microsoft.com/office/drawing/2014/main" id="{2183BA17-5F56-4C72-924A-EA21A644C3EE}"/>
              </a:ext>
            </a:extLst>
          </p:cNvPr>
          <p:cNvSpPr/>
          <p:nvPr/>
        </p:nvSpPr>
        <p:spPr>
          <a:xfrm>
            <a:off x="3876040" y="3632200"/>
            <a:ext cx="142748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SQL Database</a:t>
            </a:r>
          </a:p>
        </p:txBody>
      </p:sp>
      <p:sp>
        <p:nvSpPr>
          <p:cNvPr id="19" name="iaas_chip3">
            <a:extLst>
              <a:ext uri="{FF2B5EF4-FFF2-40B4-BE49-F238E27FC236}">
                <a16:creationId xmlns:a16="http://schemas.microsoft.com/office/drawing/2014/main" id="{38499831-2779-43CE-90CE-BE855FCCE091}"/>
              </a:ext>
            </a:extLst>
          </p:cNvPr>
          <p:cNvSpPr/>
          <p:nvPr/>
        </p:nvSpPr>
        <p:spPr>
          <a:xfrm>
            <a:off x="5405120" y="3632200"/>
            <a:ext cx="115316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Cosmos DB</a:t>
            </a:r>
          </a:p>
        </p:txBody>
      </p:sp>
      <p:sp>
        <p:nvSpPr>
          <p:cNvPr id="20" name="iaas_chip4">
            <a:extLst>
              <a:ext uri="{FF2B5EF4-FFF2-40B4-BE49-F238E27FC236}">
                <a16:creationId xmlns:a16="http://schemas.microsoft.com/office/drawing/2014/main" id="{13687301-1098-42B7-B8A1-61E30D0BAB44}"/>
              </a:ext>
            </a:extLst>
          </p:cNvPr>
          <p:cNvSpPr/>
          <p:nvPr/>
        </p:nvSpPr>
        <p:spPr>
          <a:xfrm>
            <a:off x="6659880" y="3632200"/>
            <a:ext cx="8890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DevOps</a:t>
            </a:r>
          </a:p>
        </p:txBody>
      </p:sp>
      <p:sp>
        <p:nvSpPr>
          <p:cNvPr id="21" name="iaas_chip5">
            <a:extLst>
              <a:ext uri="{FF2B5EF4-FFF2-40B4-BE49-F238E27FC236}">
                <a16:creationId xmlns:a16="http://schemas.microsoft.com/office/drawing/2014/main" id="{87545DE6-8601-4577-A7C8-A9F7CC92AF5E}"/>
              </a:ext>
            </a:extLst>
          </p:cNvPr>
          <p:cNvSpPr/>
          <p:nvPr/>
        </p:nvSpPr>
        <p:spPr>
          <a:xfrm>
            <a:off x="635000" y="4064000"/>
            <a:ext cx="12446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Logic Apps</a:t>
            </a:r>
          </a:p>
        </p:txBody>
      </p:sp>
      <p:sp>
        <p:nvSpPr>
          <p:cNvPr id="22" name="iaas_chip6">
            <a:extLst>
              <a:ext uri="{FF2B5EF4-FFF2-40B4-BE49-F238E27FC236}">
                <a16:creationId xmlns:a16="http://schemas.microsoft.com/office/drawing/2014/main" id="{20E39834-7484-4226-A21A-DEAB61136472}"/>
              </a:ext>
            </a:extLst>
          </p:cNvPr>
          <p:cNvSpPr/>
          <p:nvPr/>
        </p:nvSpPr>
        <p:spPr>
          <a:xfrm>
            <a:off x="1981200" y="4064000"/>
            <a:ext cx="133604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Service Bus</a:t>
            </a:r>
          </a:p>
        </p:txBody>
      </p:sp>
      <p:sp>
        <p:nvSpPr>
          <p:cNvPr id="26" name="iaas_chip7">
            <a:extLst>
              <a:ext uri="{FF2B5EF4-FFF2-40B4-BE49-F238E27FC236}">
                <a16:creationId xmlns:a16="http://schemas.microsoft.com/office/drawing/2014/main" id="{CFE96F66-7C0A-447F-A33B-F7B3BDB150C7}"/>
              </a:ext>
            </a:extLst>
          </p:cNvPr>
          <p:cNvSpPr/>
          <p:nvPr/>
        </p:nvSpPr>
        <p:spPr>
          <a:xfrm>
            <a:off x="3418840" y="4064000"/>
            <a:ext cx="8890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AKS</a:t>
            </a:r>
          </a:p>
        </p:txBody>
      </p:sp>
      <p:pic>
        <p:nvPicPr>
          <p:cNvPr id="27" name="Graphic 27" descr="Check caso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4953000"/>
            <a:ext cx="228600" cy="228600"/>
          </a:xfrm>
          <a:prstGeom prst="rect">
            <a:avLst/>
          </a:prstGeom>
        </p:spPr>
      </p:pic>
      <p:pic>
        <p:nvPicPr>
          <p:cNvPr id="28" name="Graphic 28" descr="Check caso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359400"/>
            <a:ext cx="228600" cy="228600"/>
          </a:xfrm>
          <a:prstGeom prst="rect">
            <a:avLst/>
          </a:prstGeom>
        </p:spPr>
      </p:pic>
      <p:pic>
        <p:nvPicPr>
          <p:cNvPr id="29" name="Graphic 29" descr="Check caso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765800"/>
            <a:ext cx="228600" cy="228600"/>
          </a:xfrm>
          <a:prstGeom prst="rect">
            <a:avLst/>
          </a:prstGeom>
        </p:spPr>
      </p:pic>
      <p:pic>
        <p:nvPicPr>
          <p:cNvPr id="30" name="Graphic 30" descr="Check caso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172200"/>
            <a:ext cx="228600" cy="228600"/>
          </a:xfrm>
          <a:prstGeom prst="rect">
            <a:avLst/>
          </a:prstGeom>
        </p:spPr>
      </p:pic>
      <p:sp>
        <p:nvSpPr>
          <p:cNvPr id="31" name="AutoShape 2">
            <a:extLst>
              <a:ext uri="{FF2B5EF4-FFF2-40B4-BE49-F238E27FC236}">
                <a16:creationId xmlns:a16="http://schemas.microsoft.com/office/drawing/2014/main" id="{2138B0F2-338C-B958-9065-4F0A3BA486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16B45339-A76B-2695-6219-BD8F96962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692" y="3395579"/>
            <a:ext cx="3634428" cy="2725821"/>
          </a:xfrm>
          <a:prstGeom prst="rect">
            <a:avLst/>
          </a:prstGeom>
        </p:spPr>
      </p:pic>
      <p:sp>
        <p:nvSpPr>
          <p:cNvPr id="35" name="AutoShape 4">
            <a:extLst>
              <a:ext uri="{FF2B5EF4-FFF2-40B4-BE49-F238E27FC236}">
                <a16:creationId xmlns:a16="http://schemas.microsoft.com/office/drawing/2014/main" id="{A383CEA2-63F3-D9ED-3F03-AD24656682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693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SERVIÇO · 03 / 03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SaaS</a:t>
            </a:r>
          </a:p>
        </p:txBody>
      </p:sp>
      <p:sp>
        <p:nvSpPr>
          <p:cNvPr id="23" name="Shape 21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4" name="iaas_sec_DEFI">
            <a:extLst>
              <a:ext uri="{FF2B5EF4-FFF2-40B4-BE49-F238E27FC236}">
                <a16:creationId xmlns:a16="http://schemas.microsoft.com/office/drawing/2014/main" id="{2B0D6803-2C64-4ED3-8EE8-F6D23D1EFA0F}"/>
              </a:ext>
            </a:extLst>
          </p:cNvPr>
          <p:cNvSpPr txBox="1"/>
          <p:nvPr/>
        </p:nvSpPr>
        <p:spPr>
          <a:xfrm>
            <a:off x="635000" y="16256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DEFINIÇÃO</a:t>
            </a:r>
          </a:p>
        </p:txBody>
      </p:sp>
      <p:sp>
        <p:nvSpPr>
          <p:cNvPr id="5" name="iaas_defbox">
            <a:extLst>
              <a:ext uri="{FF2B5EF4-FFF2-40B4-BE49-F238E27FC236}">
                <a16:creationId xmlns:a16="http://schemas.microsoft.com/office/drawing/2014/main" id="{81C97E98-6EF9-4514-8F42-5F918B787B84}"/>
              </a:ext>
            </a:extLst>
          </p:cNvPr>
          <p:cNvSpPr/>
          <p:nvPr/>
        </p:nvSpPr>
        <p:spPr>
          <a:xfrm>
            <a:off x="635000" y="1930400"/>
            <a:ext cx="7112000" cy="12192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iaas_deftxt">
            <a:extLst>
              <a:ext uri="{FF2B5EF4-FFF2-40B4-BE49-F238E27FC236}">
                <a16:creationId xmlns:a16="http://schemas.microsoft.com/office/drawing/2014/main" id="{80064AFB-A92D-4D0F-9DB3-AFBAC49C20D3}"/>
              </a:ext>
            </a:extLst>
          </p:cNvPr>
          <p:cNvSpPr txBox="1"/>
          <p:nvPr/>
        </p:nvSpPr>
        <p:spPr>
          <a:xfrm>
            <a:off x="889000" y="2057400"/>
            <a:ext cx="66040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pt-BR" sz="12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Software as a Service (SaaS) entrega aplicações prontas pela internet. O provedor hospeda, mantém e atualiza toda a infraestrutura e o código; os usuários acessam pelo navegador, sem instalação local.</a:t>
            </a:r>
          </a:p>
        </p:txBody>
      </p:sp>
      <p:sp>
        <p:nvSpPr>
          <p:cNvPr id="7" name="iaas_sec_CASO">
            <a:extLst>
              <a:ext uri="{FF2B5EF4-FFF2-40B4-BE49-F238E27FC236}">
                <a16:creationId xmlns:a16="http://schemas.microsoft.com/office/drawing/2014/main" id="{C11958DA-4061-42C3-A35E-883193E61AA1}"/>
              </a:ext>
            </a:extLst>
          </p:cNvPr>
          <p:cNvSpPr txBox="1"/>
          <p:nvPr/>
        </p:nvSpPr>
        <p:spPr>
          <a:xfrm>
            <a:off x="635000" y="45720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EXEMPLOS MICROSOFT</a:t>
            </a:r>
          </a:p>
        </p:txBody>
      </p:sp>
      <p:sp>
        <p:nvSpPr>
          <p:cNvPr id="8" name="iaas_caso0">
            <a:extLst>
              <a:ext uri="{FF2B5EF4-FFF2-40B4-BE49-F238E27FC236}">
                <a16:creationId xmlns:a16="http://schemas.microsoft.com/office/drawing/2014/main" id="{8D898637-2E4E-476B-BC7B-2041C4566EAB}"/>
              </a:ext>
            </a:extLst>
          </p:cNvPr>
          <p:cNvSpPr txBox="1"/>
          <p:nvPr/>
        </p:nvSpPr>
        <p:spPr>
          <a:xfrm>
            <a:off x="1016000" y="49530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Microsoft 365: </a:t>
            </a: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Office, Teams, SharePoint e OneDrive</a:t>
            </a:r>
          </a:p>
        </p:txBody>
      </p:sp>
      <p:sp>
        <p:nvSpPr>
          <p:cNvPr id="9" name="iaas_caso1">
            <a:extLst>
              <a:ext uri="{FF2B5EF4-FFF2-40B4-BE49-F238E27FC236}">
                <a16:creationId xmlns:a16="http://schemas.microsoft.com/office/drawing/2014/main" id="{B6B2E696-CB35-430B-AC65-B747531484F1}"/>
              </a:ext>
            </a:extLst>
          </p:cNvPr>
          <p:cNvSpPr txBox="1"/>
          <p:nvPr/>
        </p:nvSpPr>
        <p:spPr>
          <a:xfrm>
            <a:off x="1016000" y="5359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Dynamics 365: </a:t>
            </a: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plataforma integrada de CRM e ERP</a:t>
            </a:r>
          </a:p>
        </p:txBody>
      </p:sp>
      <p:sp>
        <p:nvSpPr>
          <p:cNvPr id="10" name="iaas_caso2">
            <a:extLst>
              <a:ext uri="{FF2B5EF4-FFF2-40B4-BE49-F238E27FC236}">
                <a16:creationId xmlns:a16="http://schemas.microsoft.com/office/drawing/2014/main" id="{372B596C-DCA4-42C5-BCAE-E596A8E7273A}"/>
              </a:ext>
            </a:extLst>
          </p:cNvPr>
          <p:cNvSpPr txBox="1"/>
          <p:nvPr/>
        </p:nvSpPr>
        <p:spPr>
          <a:xfrm>
            <a:off x="1016000" y="57658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Power Platform: </a:t>
            </a: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Power Apps, Power Automate e Power BI</a:t>
            </a:r>
          </a:p>
        </p:txBody>
      </p:sp>
      <p:sp>
        <p:nvSpPr>
          <p:cNvPr id="11" name="iaas_caso3">
            <a:extLst>
              <a:ext uri="{FF2B5EF4-FFF2-40B4-BE49-F238E27FC236}">
                <a16:creationId xmlns:a16="http://schemas.microsoft.com/office/drawing/2014/main" id="{C7D23FE7-DB2E-4C22-996D-7F7932CBF769}"/>
              </a:ext>
            </a:extLst>
          </p:cNvPr>
          <p:cNvSpPr txBox="1"/>
          <p:nvPr/>
        </p:nvSpPr>
        <p:spPr>
          <a:xfrm>
            <a:off x="1016000" y="6172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pt-BR" sz="12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Microsoft Defender: </a:t>
            </a:r>
            <a:r>
              <a:rPr lang="pt-BR" sz="1200" dirty="0">
                <a:solidFill>
                  <a:srgbClr val="CCCCCC"/>
                </a:solidFill>
                <a:latin typeface="Sora"/>
                <a:ea typeface="Sora"/>
                <a:cs typeface="Sora"/>
              </a:rPr>
              <a:t>segurança e antivírus via nuvem</a:t>
            </a:r>
          </a:p>
        </p:txBody>
      </p:sp>
      <p:sp>
        <p:nvSpPr>
          <p:cNvPr id="15" name="iaas_seccomp">
            <a:extLst>
              <a:ext uri="{FF2B5EF4-FFF2-40B4-BE49-F238E27FC236}">
                <a16:creationId xmlns:a16="http://schemas.microsoft.com/office/drawing/2014/main" id="{2FC0E0B9-AD86-4E5F-8934-D22F90A5FE67}"/>
              </a:ext>
            </a:extLst>
          </p:cNvPr>
          <p:cNvSpPr txBox="1"/>
          <p:nvPr/>
        </p:nvSpPr>
        <p:spPr>
          <a:xfrm>
            <a:off x="635000" y="3276600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CARACTERÍSTICAS-CHAVE</a:t>
            </a:r>
          </a:p>
        </p:txBody>
      </p:sp>
      <p:sp>
        <p:nvSpPr>
          <p:cNvPr id="16" name="iaas_chip0">
            <a:extLst>
              <a:ext uri="{FF2B5EF4-FFF2-40B4-BE49-F238E27FC236}">
                <a16:creationId xmlns:a16="http://schemas.microsoft.com/office/drawing/2014/main" id="{0CED1845-925C-4FA8-800A-980D37A9015A}"/>
              </a:ext>
            </a:extLst>
          </p:cNvPr>
          <p:cNvSpPr/>
          <p:nvPr/>
        </p:nvSpPr>
        <p:spPr>
          <a:xfrm>
            <a:off x="635000" y="3632200"/>
            <a:ext cx="151892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Multi-Tenancy</a:t>
            </a:r>
          </a:p>
        </p:txBody>
      </p:sp>
      <p:sp>
        <p:nvSpPr>
          <p:cNvPr id="17" name="iaas_chip1">
            <a:extLst>
              <a:ext uri="{FF2B5EF4-FFF2-40B4-BE49-F238E27FC236}">
                <a16:creationId xmlns:a16="http://schemas.microsoft.com/office/drawing/2014/main" id="{BFB0FE96-517E-41D9-888C-A99D603F327E}"/>
              </a:ext>
            </a:extLst>
          </p:cNvPr>
          <p:cNvSpPr/>
          <p:nvPr/>
        </p:nvSpPr>
        <p:spPr>
          <a:xfrm>
            <a:off x="2255520" y="3632200"/>
            <a:ext cx="252476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Atualizações Automáticas</a:t>
            </a:r>
          </a:p>
        </p:txBody>
      </p:sp>
      <p:sp>
        <p:nvSpPr>
          <p:cNvPr id="18" name="iaas_chip2">
            <a:extLst>
              <a:ext uri="{FF2B5EF4-FFF2-40B4-BE49-F238E27FC236}">
                <a16:creationId xmlns:a16="http://schemas.microsoft.com/office/drawing/2014/main" id="{2183BA17-5F56-4C72-924A-EA21A644C3EE}"/>
              </a:ext>
            </a:extLst>
          </p:cNvPr>
          <p:cNvSpPr/>
          <p:nvPr/>
        </p:nvSpPr>
        <p:spPr>
          <a:xfrm>
            <a:off x="4881880" y="3632200"/>
            <a:ext cx="151892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Via Navegador</a:t>
            </a:r>
          </a:p>
        </p:txBody>
      </p:sp>
      <p:sp>
        <p:nvSpPr>
          <p:cNvPr id="19" name="iaas_chip3">
            <a:extLst>
              <a:ext uri="{FF2B5EF4-FFF2-40B4-BE49-F238E27FC236}">
                <a16:creationId xmlns:a16="http://schemas.microsoft.com/office/drawing/2014/main" id="{38499831-2779-43CE-90CE-BE855FCCE091}"/>
              </a:ext>
            </a:extLst>
          </p:cNvPr>
          <p:cNvSpPr/>
          <p:nvPr/>
        </p:nvSpPr>
        <p:spPr>
          <a:xfrm>
            <a:off x="6502400" y="3632200"/>
            <a:ext cx="124460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Assinatura</a:t>
            </a:r>
          </a:p>
        </p:txBody>
      </p:sp>
      <p:sp>
        <p:nvSpPr>
          <p:cNvPr id="20" name="iaas_chip4">
            <a:extLst>
              <a:ext uri="{FF2B5EF4-FFF2-40B4-BE49-F238E27FC236}">
                <a16:creationId xmlns:a16="http://schemas.microsoft.com/office/drawing/2014/main" id="{13687301-1098-42B7-B8A1-61E30D0BAB44}"/>
              </a:ext>
            </a:extLst>
          </p:cNvPr>
          <p:cNvSpPr/>
          <p:nvPr/>
        </p:nvSpPr>
        <p:spPr>
          <a:xfrm>
            <a:off x="635000" y="4064000"/>
            <a:ext cx="206756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Gestão Centralizada</a:t>
            </a:r>
          </a:p>
        </p:txBody>
      </p:sp>
      <p:sp>
        <p:nvSpPr>
          <p:cNvPr id="21" name="iaas_chip5">
            <a:extLst>
              <a:ext uri="{FF2B5EF4-FFF2-40B4-BE49-F238E27FC236}">
                <a16:creationId xmlns:a16="http://schemas.microsoft.com/office/drawing/2014/main" id="{87545DE6-8601-4577-A7C8-A9F7CC92AF5E}"/>
              </a:ext>
            </a:extLst>
          </p:cNvPr>
          <p:cNvSpPr/>
          <p:nvPr/>
        </p:nvSpPr>
        <p:spPr>
          <a:xfrm>
            <a:off x="2804160" y="4064000"/>
            <a:ext cx="142748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Auto-Scaling</a:t>
            </a:r>
          </a:p>
        </p:txBody>
      </p:sp>
      <p:sp>
        <p:nvSpPr>
          <p:cNvPr id="22" name="iaas_chip6">
            <a:extLst>
              <a:ext uri="{FF2B5EF4-FFF2-40B4-BE49-F238E27FC236}">
                <a16:creationId xmlns:a16="http://schemas.microsoft.com/office/drawing/2014/main" id="{20E39834-7484-4226-A21A-DEAB61136472}"/>
              </a:ext>
            </a:extLst>
          </p:cNvPr>
          <p:cNvSpPr/>
          <p:nvPr/>
        </p:nvSpPr>
        <p:spPr>
          <a:xfrm>
            <a:off x="4333240" y="4064000"/>
            <a:ext cx="1793239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Multidispositivo</a:t>
            </a:r>
          </a:p>
        </p:txBody>
      </p:sp>
      <p:sp>
        <p:nvSpPr>
          <p:cNvPr id="26" name="iaas_chip7">
            <a:extLst>
              <a:ext uri="{FF2B5EF4-FFF2-40B4-BE49-F238E27FC236}">
                <a16:creationId xmlns:a16="http://schemas.microsoft.com/office/drawing/2014/main" id="{CFE96F66-7C0A-447F-A33B-F7B3BDB150C7}"/>
              </a:ext>
            </a:extLst>
          </p:cNvPr>
          <p:cNvSpPr/>
          <p:nvPr/>
        </p:nvSpPr>
        <p:spPr>
          <a:xfrm>
            <a:off x="6228080" y="4064000"/>
            <a:ext cx="1153160" cy="330200"/>
          </a:xfrm>
          <a:prstGeom prst="roundRect">
            <a:avLst/>
          </a:prstGeom>
          <a:solidFill>
            <a:srgbClr val="1C1C20"/>
          </a:solidFill>
          <a:ln w="12700" cap="flat" cmpd="sng" algn="ctr">
            <a:solidFill>
              <a:srgbClr val="4A4A5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100">
                <a:solidFill>
                  <a:srgbClr val="FFFFFF"/>
                </a:solidFill>
                <a:latin typeface="Sora"/>
              </a:rPr>
              <a:t>Segurança</a:t>
            </a:r>
          </a:p>
        </p:txBody>
      </p:sp>
      <p:pic>
        <p:nvPicPr>
          <p:cNvPr id="27" name="Graphic 27" descr="Check caso 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4953000"/>
            <a:ext cx="228600" cy="228600"/>
          </a:xfrm>
          <a:prstGeom prst="rect">
            <a:avLst/>
          </a:prstGeom>
        </p:spPr>
      </p:pic>
      <p:pic>
        <p:nvPicPr>
          <p:cNvPr id="28" name="Graphic 28" descr="Check caso 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359400"/>
            <a:ext cx="228600" cy="228600"/>
          </a:xfrm>
          <a:prstGeom prst="rect">
            <a:avLst/>
          </a:prstGeom>
        </p:spPr>
      </p:pic>
      <p:pic>
        <p:nvPicPr>
          <p:cNvPr id="29" name="Graphic 29" descr="Check caso 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5765800"/>
            <a:ext cx="228600" cy="228600"/>
          </a:xfrm>
          <a:prstGeom prst="rect">
            <a:avLst/>
          </a:prstGeom>
        </p:spPr>
      </p:pic>
      <p:pic>
        <p:nvPicPr>
          <p:cNvPr id="30" name="Graphic 30" descr="Check caso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" y="6172200"/>
            <a:ext cx="228600" cy="228600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A3C6AC81-FD42-EFD3-D6C2-3CF12F1E7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548" y="3395579"/>
            <a:ext cx="3634428" cy="272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70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CB130-DFDE-7AC8-ED60-ED41E4FA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2DC52C8-2CD3-9B4B-3837-EBFE16F3B100}"/>
              </a:ext>
            </a:extLst>
          </p:cNvPr>
          <p:cNvSpPr/>
          <p:nvPr/>
        </p:nvSpPr>
        <p:spPr>
          <a:xfrm>
            <a:off x="635000" y="25862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100" b="1" kern="0" spc="300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MODELO DE SERVIÇO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86442D-8971-B142-D857-3D6F18B86581}"/>
              </a:ext>
            </a:extLst>
          </p:cNvPr>
          <p:cNvSpPr/>
          <p:nvPr/>
        </p:nvSpPr>
        <p:spPr>
          <a:xfrm>
            <a:off x="640080" y="54535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pt-BR" sz="3000" b="1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Matriz de responsabilidade compartilhada</a:t>
            </a:r>
          </a:p>
          <a:p>
            <a:pPr marL="0" indent="0" algn="l">
              <a:lnSpc>
                <a:spcPct val="100000"/>
              </a:lnSpc>
              <a:buNone/>
            </a:pPr>
            <a:endParaRPr lang="pt-BR" sz="3000" b="1" dirty="0">
              <a:solidFill>
                <a:srgbClr val="FFFFFF"/>
              </a:solidFill>
              <a:latin typeface="Sora"/>
              <a:ea typeface="Sora"/>
              <a:cs typeface="Sora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426A97F-5899-5EF8-768B-04E35E1B26B1}"/>
              </a:ext>
            </a:extLst>
          </p:cNvPr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04C329B-FAA9-995F-5A7A-10297274C15F}"/>
              </a:ext>
            </a:extLst>
          </p:cNvPr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B621C2A-AE6F-7494-3164-C1D8F5BD29DD}"/>
              </a:ext>
            </a:extLst>
          </p:cNvPr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sp>
        <p:nvSpPr>
          <p:cNvPr id="4" name="iaas_sec_DEFI">
            <a:extLst>
              <a:ext uri="{FF2B5EF4-FFF2-40B4-BE49-F238E27FC236}">
                <a16:creationId xmlns:a16="http://schemas.microsoft.com/office/drawing/2014/main" id="{26268E10-79D2-50E3-1CF3-738B61927D89}"/>
              </a:ext>
            </a:extLst>
          </p:cNvPr>
          <p:cNvSpPr txBox="1"/>
          <p:nvPr/>
        </p:nvSpPr>
        <p:spPr>
          <a:xfrm>
            <a:off x="635000" y="1372508"/>
            <a:ext cx="7112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 algn="l">
              <a:buNone/>
            </a:pPr>
            <a:r>
              <a:rPr lang="pt-BR" sz="1300" b="1" dirty="0">
                <a:solidFill>
                  <a:srgbClr val="C9A227"/>
                </a:solidFill>
                <a:latin typeface="JetBrains Mono"/>
                <a:ea typeface="JetBrains Mono"/>
                <a:cs typeface="JetBrains Mono"/>
              </a:rPr>
              <a:t>DEFINIÇÃO</a:t>
            </a:r>
          </a:p>
        </p:txBody>
      </p:sp>
      <p:sp>
        <p:nvSpPr>
          <p:cNvPr id="5" name="iaas_defbox">
            <a:extLst>
              <a:ext uri="{FF2B5EF4-FFF2-40B4-BE49-F238E27FC236}">
                <a16:creationId xmlns:a16="http://schemas.microsoft.com/office/drawing/2014/main" id="{7D608019-6D84-8EDA-9673-F18500995226}"/>
              </a:ext>
            </a:extLst>
          </p:cNvPr>
          <p:cNvSpPr/>
          <p:nvPr/>
        </p:nvSpPr>
        <p:spPr>
          <a:xfrm>
            <a:off x="635000" y="1677308"/>
            <a:ext cx="9472386" cy="1219200"/>
          </a:xfrm>
          <a:prstGeom prst="roundRect">
            <a:avLst/>
          </a:prstGeom>
          <a:solidFill>
            <a:srgbClr val="17171A"/>
          </a:solidFill>
          <a:ln w="12700" cap="flat" cmpd="sng" algn="ctr">
            <a:solidFill>
              <a:srgbClr val="3A3A4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iaas_deftxt">
            <a:extLst>
              <a:ext uri="{FF2B5EF4-FFF2-40B4-BE49-F238E27FC236}">
                <a16:creationId xmlns:a16="http://schemas.microsoft.com/office/drawing/2014/main" id="{3DBDCE35-CAB5-D49A-F927-B4E16AE86EBF}"/>
              </a:ext>
            </a:extLst>
          </p:cNvPr>
          <p:cNvSpPr txBox="1"/>
          <p:nvPr/>
        </p:nvSpPr>
        <p:spPr>
          <a:xfrm>
            <a:off x="888999" y="1804308"/>
            <a:ext cx="9144907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ct val="118000"/>
              </a:lnSpc>
            </a:pPr>
            <a:r>
              <a:rPr lang="pt-BR" sz="1200" dirty="0">
                <a:solidFill>
                  <a:srgbClr val="FFFFFF"/>
                </a:solidFill>
                <a:latin typeface="Sora"/>
                <a:ea typeface="Sora"/>
                <a:cs typeface="Sora"/>
              </a:rPr>
              <a:t>Ao considerar e avaliar os serviços de nuvem pública, é essencial entender o modelo de responsabilidade compartilhada e quais tarefas de segurança o provedor de nuvem manipula e quais tarefas você lida. As responsabilidades da carga de trabalho variam dependendo se a carga de trabalho está hospedada em SaaS (Software como Serviço), PaaS (Plataforma como Serviço), IaaS (Infraestrutura como Serviço) ou em um datacenter local.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98C2AA4-9DB8-ED6D-E698-3A9850875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091" y="2300434"/>
            <a:ext cx="6937511" cy="406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255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GEOGRAFIA &amp; ORGANIZAÇÃO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Regiões, zonas e hierarquia de recursos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023360"/>
          </a:xfrm>
          <a:prstGeom prst="roundRect">
            <a:avLst>
              <a:gd name="adj" fmla="val 204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Onde seus recursos rodam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34440" y="26060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Região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9169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Conjunto de data centers numa área (ex: Brazil South, em São Paulo).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444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Zona de disponibilidade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4440" y="387705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Data centers separados dentro da região, para alta disponibilidade.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572000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34440" y="4526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Region pair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483717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 de regiões usado para recuperação de desastre.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783080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91440" cy="896112"/>
          </a:xfrm>
          <a:prstGeom prst="rect">
            <a:avLst/>
          </a:prstGeom>
          <a:solidFill>
            <a:srgbClr val="7A5C0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601968" y="18928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Management Group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01968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Agrupa subscriptions para políticas em escala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07208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309360" y="2807208"/>
            <a:ext cx="91440" cy="896112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601968" y="2916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Subscription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601968" y="32644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Unidade de cobrança e limite de recursos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3831336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6309360" y="3831336"/>
            <a:ext cx="91440" cy="896112"/>
          </a:xfrm>
          <a:prstGeom prst="rect">
            <a:avLst/>
          </a:prstGeom>
          <a:solidFill>
            <a:srgbClr val="F5E0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601968" y="3941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Resource Group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01968" y="42885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Container lógico de recursos do mesmo ciclo de vida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4855464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309360" y="4855464"/>
            <a:ext cx="91440" cy="896112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601968" y="4965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Resource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01968" y="53126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recurso em si: VM, VNet, Storage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Os serviços que você vai encontrar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Virtual Network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Rede privada isolada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07408" y="17830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681728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Virtual Machine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681728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Servidor virtual (IaaS)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81728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74736" y="17830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449056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Storage Account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449056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Arquivos, blobs e filas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49056" y="2862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Azure SQL Database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4270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Banco relacional (PaaS)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90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407408" y="36118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681728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App Service / WebApp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81728" y="4270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Sites e APIs (PaaS)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1728" y="4690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74736" y="361188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449056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Microsoft Entra ID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49056" y="42702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Identidade e acesso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49056" y="4690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  <p:pic>
        <p:nvPicPr>
          <p:cNvPr id="37" name="Image 2" descr="/sessions/nice-intelligent-brown/mnt/outputs/deck/assets/svc_appservice.png">
            <a:extLst>
              <a:ext uri="{FF2B5EF4-FFF2-40B4-BE49-F238E27FC236}">
                <a16:creationId xmlns:a16="http://schemas.microsoft.com/office/drawing/2014/main" id="{9873BE19-9B14-4D46-E44A-9FC06BC28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468" y="3856939"/>
            <a:ext cx="420624" cy="420624"/>
          </a:xfrm>
          <a:prstGeom prst="rect">
            <a:avLst/>
          </a:prstGeom>
        </p:spPr>
      </p:pic>
      <p:pic>
        <p:nvPicPr>
          <p:cNvPr id="38" name="Image 3" descr="/sessions/nice-intelligent-brown/mnt/outputs/deck/assets/svc_sql.png">
            <a:extLst>
              <a:ext uri="{FF2B5EF4-FFF2-40B4-BE49-F238E27FC236}">
                <a16:creationId xmlns:a16="http://schemas.microsoft.com/office/drawing/2014/main" id="{E4661A8B-D943-9F8C-5D9D-19C3E9309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546" y="3831336"/>
            <a:ext cx="420624" cy="420624"/>
          </a:xfrm>
          <a:prstGeom prst="rect">
            <a:avLst/>
          </a:prstGeom>
        </p:spPr>
      </p:pic>
      <p:pic>
        <p:nvPicPr>
          <p:cNvPr id="39" name="Image 9" descr="/sessions/nice-intelligent-brown/mnt/outputs/deck/assets/svc_vnet.png">
            <a:extLst>
              <a:ext uri="{FF2B5EF4-FFF2-40B4-BE49-F238E27FC236}">
                <a16:creationId xmlns:a16="http://schemas.microsoft.com/office/drawing/2014/main" id="{F0E9694F-2766-191C-9DE9-78EF007A3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546" y="2006001"/>
            <a:ext cx="420624" cy="420624"/>
          </a:xfrm>
          <a:prstGeom prst="rect">
            <a:avLst/>
          </a:prstGeom>
        </p:spPr>
      </p:pic>
      <p:pic>
        <p:nvPicPr>
          <p:cNvPr id="40" name="Image 8" descr="/sessions/nice-intelligent-brown/mnt/outputs/deck/assets/svc_vm.png">
            <a:extLst>
              <a:ext uri="{FF2B5EF4-FFF2-40B4-BE49-F238E27FC236}">
                <a16:creationId xmlns:a16="http://schemas.microsoft.com/office/drawing/2014/main" id="{23A095F1-BF02-AFD4-56AE-6D2CD0AD5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1468" y="2037283"/>
            <a:ext cx="420624" cy="420624"/>
          </a:xfrm>
          <a:prstGeom prst="rect">
            <a:avLst/>
          </a:prstGeom>
        </p:spPr>
      </p:pic>
      <p:pic>
        <p:nvPicPr>
          <p:cNvPr id="41" name="Image 7" descr="/sessions/nice-intelligent-brown/mnt/outputs/deck/assets/svc_storage.png">
            <a:extLst>
              <a:ext uri="{FF2B5EF4-FFF2-40B4-BE49-F238E27FC236}">
                <a16:creationId xmlns:a16="http://schemas.microsoft.com/office/drawing/2014/main" id="{F250F88E-8D02-235A-0AAC-86EE18B5F8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072" y="2006001"/>
            <a:ext cx="420624" cy="420624"/>
          </a:xfrm>
          <a:prstGeom prst="rect">
            <a:avLst/>
          </a:prstGeom>
        </p:spPr>
      </p:pic>
      <p:pic>
        <p:nvPicPr>
          <p:cNvPr id="1026" name="Picture 2" descr="Microsoft Entra ID - Connectors | Microsoft Learn">
            <a:extLst>
              <a:ext uri="{FF2B5EF4-FFF2-40B4-BE49-F238E27FC236}">
                <a16:creationId xmlns:a16="http://schemas.microsoft.com/office/drawing/2014/main" id="{10E028FC-2788-52C4-88D1-693700821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7500" y="3765764"/>
            <a:ext cx="551768" cy="55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3865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4E4827-C30D-7583-9C0E-2AED8A640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DC5E96-478B-5B33-E165-5267EF50C0DD}"/>
              </a:ext>
            </a:extLst>
          </p:cNvPr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30000" dirty="0"/>
          </a:p>
        </p:txBody>
      </p:sp>
      <p:pic>
        <p:nvPicPr>
          <p:cNvPr id="3" name="Image 0" descr="logo_prime.png">
            <a:extLst>
              <a:ext uri="{FF2B5EF4-FFF2-40B4-BE49-F238E27FC236}">
                <a16:creationId xmlns:a16="http://schemas.microsoft.com/office/drawing/2014/main" id="{01BF8036-083D-70EB-0AFE-533A1BC33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CD6A53A-5EE0-6839-AAF7-F0D8B8948493}"/>
              </a:ext>
            </a:extLst>
          </p:cNvPr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03 · 25 MIN</a:t>
            </a:r>
            <a:endParaRPr lang="en-US" sz="11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4F5718F-F5ED-8BD1-C0AC-BF6C0AB45570}"/>
              </a:ext>
            </a:extLst>
          </p:cNvPr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 Azure trial + Portal</a:t>
            </a:r>
            <a:endParaRPr lang="en-US" sz="46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B0A1C68-DC7A-8C10-00B3-78436C2CC573}"/>
              </a:ext>
            </a:extLst>
          </p:cNvPr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Criar a conta gratuita, entender o que ela oferece e dar os primeiros passos no Portal do Azure.</a:t>
            </a:r>
            <a:endParaRPr lang="en-US" sz="15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DF71593-4E47-5573-86A4-D28FB94A8977}"/>
              </a:ext>
            </a:extLst>
          </p:cNvPr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EC25F9A-41E3-B9E9-0345-7C42EFD53637}"/>
              </a:ext>
            </a:extLst>
          </p:cNvPr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32D2839-4D81-4699-D46A-7AD1E8AD0FFE}"/>
              </a:ext>
            </a:extLst>
          </p:cNvPr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38697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 QUE VEM NA TRIAL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Três benefícios — não confunda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C9A2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US$ 200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32688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 crédito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3538728"/>
            <a:ext cx="1097280" cy="182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32688" y="365760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Válido por 30 dias. Cobre qualquer serviço pago no 1º mês.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81728" y="2240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 meses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700016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grátis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0016" y="3538728"/>
            <a:ext cx="1097280" cy="182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00016" y="365760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750h de VM B1s, 5 GB de Blob, Azure SQL limitado.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1874520"/>
            <a:ext cx="3383280" cy="2926080"/>
          </a:xfrm>
          <a:prstGeom prst="roundRect">
            <a:avLst>
              <a:gd name="adj" fmla="val 2813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449056" y="22402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078D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Sempre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467344" y="3044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grátis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67344" y="3538728"/>
            <a:ext cx="1097280" cy="18288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467344" y="3657600"/>
            <a:ext cx="2798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Azure Policy, Resource Graph, Cost Management, App Service F1.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Atenção: </a:t>
            </a:r>
            <a:r>
              <a:rPr lang="en-US" sz="12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verificação pede cartão, mas </a:t>
            </a:r>
            <a:r>
              <a:rPr lang="en-US" sz="12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 há cobrança</a:t>
            </a:r>
            <a:r>
              <a:rPr lang="en-US" sz="12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 — a trial não vira Pay-As-You-Go sem você confirmar o upgrade.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· PORTAL DO AZURE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Criando a conta e conhecendo o Portal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400800" cy="3383280"/>
          </a:xfrm>
          <a:prstGeom prst="roundRect">
            <a:avLst>
              <a:gd name="adj" fmla="val 243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Passo a passo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Acesse azure.microsoft.com/free.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Login com conta Microsoft (ou crie uma).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Preencha o perfil e verifique por telefone.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Informe o cartão (apenas verificação).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Aceite o contrato e aguarde o provisionamento.</a:t>
            </a:r>
            <a:endParaRPr lang="en-US" sz="130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6.   Confirme a assinatura em portal.azure.com.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69480" y="1783080"/>
            <a:ext cx="4251960" cy="3383280"/>
          </a:xfrm>
          <a:prstGeom prst="roundRect">
            <a:avLst>
              <a:gd name="adj" fmla="val 2432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543800" y="1965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 Portal, conheça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43800" y="250545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86384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Barra de busca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Atalho para qualquer serviço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328269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86384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Cloud Shell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Terminal pronto (Bash/PowerShell)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405993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86384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Favoritos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63840" y="4325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Acesso rápido ao que você mais usa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43800" y="483717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863840" y="4800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Cost Management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63840" y="5102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Onde você vigia o gasto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04 · 30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Cost Management e controle de recursos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habilidade de sobrevivência do evento: manter o crédito da trial sob controle pelas 6 semanas.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FINOPS 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que custa dinheiro no Azure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36576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Recurso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Como cobra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Cuidado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Virtual Machine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Por hora ligada (alocada)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Cobra mesmo "parada" se não desalocar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Disco gerenciado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Por GB provisionado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Cobra mesmo com a VM desligada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IP público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Por hora, mesmo sem uso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IP órfão (sem VM) continua cobrando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Banda (egress)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Por GB de saída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Tráfego de saída para a internet é pago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Storage Account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Por GB + transações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Volume pequeno custa centavos</a:t>
                      </a:r>
                      <a:endParaRPr lang="en-US" sz="13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50800" marB="508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PEGADINHA CLÁSSICA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Stop vs. Stop-Deallocate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1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AÇÃO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COBRA COMPUTE?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COBRA DISCO?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91440" cy="8686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VM ligada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2240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" y="3273552"/>
            <a:ext cx="91440" cy="8686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14400" y="3273552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Shutdown pelo SO (ainda alocada)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32735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5484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0" y="327355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306824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40080" y="4306824"/>
            <a:ext cx="91440" cy="8686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30682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Stop / Deallocate (Portal)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43068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0" y="430682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A44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Sim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340096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40080" y="5340096"/>
            <a:ext cx="91440" cy="86868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34009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Recurso deletado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669280" y="5340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0" y="534009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· COST MANAGEMENT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Budget, alertas e Cost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Configurar o Budget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Busque por Cost Management + Billing.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Abra Orçamentos (Budgets) &gt; + Adicionar.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Escopo: sua assinatura. Valor: ex. US$180.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Alertas em 50%, 80% e 100%.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Adicione seu e-mail e salve.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212080" cy="3383280"/>
          </a:xfrm>
          <a:prstGeom prst="roundRect">
            <a:avLst>
              <a:gd name="adj" fmla="val 2432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Ler o Cost Analysis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250545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903720" y="24688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Grupo de recursos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2770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onde o dinheiro está indo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0" y="328269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90372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Tag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03720" y="35478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custo por projeto e ambiente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405993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903720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Serviço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03720" y="4325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qual tipo de recurso pesa mais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4837176"/>
            <a:ext cx="182880" cy="18288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903720" y="4800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Projeção do mês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51023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estimativa de quanto vai gastar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1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Hábito de ouro: ao terminar um lab, delete o Resource Group inteiro.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05 · 25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 GitHub + Copilot Free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Em 2026 o GitHub substitui o Azure DevOps. Aqui você cria sua conta e ativa a IA que será sua copiloto no evento.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&amp; 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Sua conta e seu copiloto de aprendizado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 que GitHub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Padrão de mercado para versionamento, automação (GitHub Actions) e onde vive a IA generativa para devs. Aprender agora prepara você para as fases de DevSecOps e CI/CD.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GitHub Copilot Free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Assistente de IA que sugere código e responde dúvidas direto na IDE. O plano gratuito é suficiente para usar como copiloto durante todo o evento.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783080"/>
            <a:ext cx="5212080" cy="4023360"/>
          </a:xfrm>
          <a:prstGeom prst="roundRect">
            <a:avLst>
              <a:gd name="adj" fmla="val 2045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Lab — passo a passo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9400" y="242316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Crie a conta em github.com (plano Free).</a:t>
            </a:r>
            <a:endParaRPr lang="en-US" sz="12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Confirme o e-mail e faça login.</a:t>
            </a:r>
            <a:endParaRPr lang="en-US" sz="12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Instale o VS Code + extensões do Copilot.</a:t>
            </a:r>
            <a:endParaRPr lang="en-US" sz="12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Faça login com sua conta GitHub.</a:t>
            </a:r>
            <a:endParaRPr lang="en-US" sz="12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Ative o Copilot Free quando oferecido.</a:t>
            </a:r>
            <a:endParaRPr lang="en-US" sz="125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6.   Teste: "Explique o que é uma VNet no Azure".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06 · 20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Resource Groups, Tags e organização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Organizar recursos desde o dia 1 — base do controle de custo e da governança das próximas fases.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ORGANIZAÇÃO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Resource Group, Tags e Locks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96112" y="1993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96112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Resource Group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Container lógico que agrupa recursos do mesmo ciclo de vida. Deletar o grupo apaga tudo de uma vez.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7408" y="17373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663440" y="1993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663440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Tags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Pares chave-valor para classificar recursos e rastrear custo por projeto e ambiente.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74736" y="1737360"/>
            <a:ext cx="338328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430768" y="1993392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430768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Locks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30768" y="2606040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Protegem contra alterações (ReadOnly) ou exclusões (CanNotDelete) acidentais.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5E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 PADRÃO DA TFTICKETS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114800"/>
          <a:ext cx="10881360" cy="18470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Tag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Exemplo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Para que serve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projeto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tftickets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Identifica a iniciativa do recurso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ambiente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dev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Separa dev, hml e prd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fase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eliminatorias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Marca em qual fase foi criado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owner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seu-nome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Quem é responsável pelo recurso</a:t>
                      </a:r>
                      <a:endParaRPr lang="en-US" sz="125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07 · 35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Lab: sua primeira VNet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rede privada e isolada onde seus recursos vão se comunicar. Criada clicando junto, no seu ritmo.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· VIRTUAL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Criando a vnet-tftickets-dev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937760" cy="4023360"/>
          </a:xfrm>
          <a:prstGeom prst="roundRect">
            <a:avLst>
              <a:gd name="adj" fmla="val 2045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Conceitos-chave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459736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VNet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34440" y="2724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Rede privada isolada do Azure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14400" y="3282696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CIDR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34440" y="3547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Faixa de IPs, ex: 10.0.0.0/16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105656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34440" y="4069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Sub-rede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43708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Subdivisão para isolar workloads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928616"/>
            <a:ext cx="182880" cy="182880"/>
          </a:xfrm>
          <a:prstGeom prst="ellipse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3444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IP privado/público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5193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Interno na VNet / acessível pela internet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1783080"/>
            <a:ext cx="5715000" cy="2697480"/>
          </a:xfrm>
          <a:prstGeom prst="roundRect">
            <a:avLst>
              <a:gd name="adj" fmla="val 3051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080760" y="1938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Passos no Portal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233172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Busque Redes virtuais &gt; + Criar; use o RG da fase.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Nome vnet-tftickets-dev, região Brazil South.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Espaço de endereços 10.0.0.0/16.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Sub-redes: snet-app, snet-data, snet-mgmt (/24).</a:t>
            </a:r>
            <a:endParaRPr lang="en-US" sz="1150" dirty="0"/>
          </a:p>
          <a:p>
            <a:pPr marL="0" indent="0" algn="l">
              <a:spcAft>
                <a:spcPts val="5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Aplique as tags, Revisar + criar.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806440" y="4617720"/>
            <a:ext cx="5715000" cy="1188720"/>
          </a:xfrm>
          <a:prstGeom prst="roundRect">
            <a:avLst>
              <a:gd name="adj" fmla="val 6154"/>
            </a:avLst>
          </a:prstGeom>
          <a:solidFill>
            <a:srgbClr val="1A1210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5806440" y="4617720"/>
            <a:ext cx="91440" cy="118872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80760" y="47640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kern="0" spc="100" dirty="0">
                <a:solidFill>
                  <a:srgbClr val="E548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 COMUM   </a:t>
            </a: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Erro de "espaço de endereços sobreposto".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80760" y="5235854"/>
            <a:ext cx="5212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resolver: </a:t>
            </a: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 faixas CIDR distintas que não se cruzem. Planeje o endereçamento antes de criar.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08 · 45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Lab: subindo uma Virtual Machine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Um servidor virtual completo (IaaS) protegido por NSG. O lab mais hands-on da fase.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· VIRTUAL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VM Ubuntu + NSG + nginx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1554480"/>
          </a:xfrm>
          <a:prstGeom prst="roundRect">
            <a:avLst>
              <a:gd name="adj" fmla="val 529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Virtual Machine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12848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Servidor virtual com SO completo (IaaS). Use a série B (burstable) — a B1s cabe no benefício gratuito da trial.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691640"/>
            <a:ext cx="5212080" cy="1554480"/>
          </a:xfrm>
          <a:prstGeom prst="roundRect">
            <a:avLst>
              <a:gd name="adj" fmla="val 5294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Network Security Group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2128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Firewall de rede: por padrão bloqueia a entrada. Para SSH libere a porta 22; para HTTP, a porta 80.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Passos no Portal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Máquinas virtuais &gt; + Criar; RG da fase.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Nome vm-tftickets-app-dev, Ubuntu LTS, B1s.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Autenticação por chave SSH (baixe a chave).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Rede: vnet-tftickets-dev / snet-app.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Conecte por SSH e instale o nginx.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6.   Ao fim: PARE / DESALOQUE a VM.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42900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A1210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309360" y="3429000"/>
            <a:ext cx="91440" cy="11430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583680" y="3575304"/>
            <a:ext cx="4709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kern="0" spc="100" dirty="0">
                <a:solidFill>
                  <a:srgbClr val="E548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 COMUM   </a:t>
            </a: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Não conecto por SSH (timeout).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0" y="4023360"/>
            <a:ext cx="4709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resolver: </a:t>
            </a: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Quase sempre é o NSG bloqueando a porta 22. Verifique a regra de entrada e se a VM tem IP público.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466344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1A1210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6309360" y="4663440"/>
            <a:ext cx="91440" cy="11430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83680" y="4809744"/>
            <a:ext cx="47091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kern="0" spc="100" dirty="0">
                <a:solidFill>
                  <a:srgbClr val="E5484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 COMUM   </a:t>
            </a:r>
            <a:r>
              <a:rPr lang="en-US" sz="115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Esqueci a VM ligada e o crédito caiu.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0" y="5257800"/>
            <a:ext cx="4709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Como resolver: </a:t>
            </a:r>
            <a:r>
              <a:rPr lang="en-US" sz="11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Use Parar (deallocate) no Portal ou delete o RG. Ative também o Auto-shutdown.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09 · 30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Lab: criando uma Storage Account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Onde a TFTickets guarda arquivos e imagens. Tipos de armazenamento, redundância e upload de um blob.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· STORAGE ACCOUNT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Tipos, redundância e upload de blob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F5E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REDUNDÂNCIA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5669280" cy="2596896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Opção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O que faz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Protege de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LRS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 cópias num data center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Falha de disco/servidor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ZRS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3 cópias em zonas diferentes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Falha de um data center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GRS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Replica para outra região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ora" pitchFamily="34" charset="0"/>
                          <a:ea typeface="Sora" pitchFamily="34" charset="-122"/>
                          <a:cs typeface="Sora" pitchFamily="34" charset="-120"/>
                        </a:rPr>
                        <a:t>Desastre regional</a:t>
                      </a:r>
                      <a:endParaRPr lang="en-US" sz="1200" dirty="0">
                        <a:latin typeface="Sora" charset="0"/>
                        <a:ea typeface="Sora" charset="0"/>
                        <a:cs typeface="Sora" charset="0"/>
                      </a:endParaRPr>
                    </a:p>
                  </a:txBody>
                  <a:tcPr marL="88900" marR="88900" marT="38100" marB="38100" anchor="ctr">
                    <a:lnL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292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Tipos: Blob (arquivos), File, Queue, Table. Tiers: Hot, Cool, Archive.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83680" y="1783080"/>
            <a:ext cx="4937760" cy="3611880"/>
          </a:xfrm>
          <a:prstGeom prst="roundRect">
            <a:avLst>
              <a:gd name="adj" fmla="val 2278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0" y="1938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Passos no Portal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03720" y="233172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1.   Contas de armazenamento &gt; + Criar.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   Nome único, minúsculas: sttftickets&lt;nome&gt;.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3.   Região Brazil South, redundância LRS.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4.   Crie um contêiner chamado logos.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5.   Carregue uma imagem (logo da TFTickets).</a:t>
            </a:r>
            <a:endParaRPr lang="en-US" sz="1200" dirty="0"/>
          </a:p>
          <a:p>
            <a:pPr marL="0" indent="0" algn="l">
              <a:spcAft>
                <a:spcPts val="7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6.   Abra o blob e copie a URL.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5532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Nome: 3–24 caracteres, minúsculas e números, único no Azure.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40880" y="548640"/>
            <a:ext cx="4846320" cy="576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0" b="1" dirty="0">
                <a:solidFill>
                  <a:srgbClr val="C9A227">
                    <a:alpha val="14000"/>
                  </a:srgbClr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</a:t>
            </a:r>
            <a:endParaRPr lang="en-US" sz="30000" dirty="0"/>
          </a:p>
        </p:txBody>
      </p:sp>
      <p:pic>
        <p:nvPicPr>
          <p:cNvPr id="3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66928"/>
            <a:ext cx="1554480" cy="5532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MÓDULO 10 · 15 MIN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Primeira visão do Microsoft Entra ID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5074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serviço de identidade da nuvem. Aqui só conhecemos — a Fase de Grupos aprofunda com usuários, grupos e MFA.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IDENTIDADE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Microsoft Entra ID — visão inicial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Microsoft Entra ID (antigo Azure Active Directory) controla quem faz login e o que cada pessoa acessa. É nativo de nuvem, baseado em protocolos web modernos — diferente do Active Directory tradicional (ADDS), que roda em servidores Windows on-premises.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75120" y="169164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12864" y="1892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Tenant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12864" y="23500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instância do diretório da organização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464040" y="1691640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701784" y="18928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Usuário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701784" y="235000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Identidade individual que faz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3401568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12864" y="3602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Grupo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12864" y="405993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Conjunto de usuários para dar acesso em bloco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64040" y="3401568"/>
            <a:ext cx="2468880" cy="1417320"/>
          </a:xfrm>
          <a:prstGeom prst="roundRect">
            <a:avLst>
              <a:gd name="adj" fmla="val 5806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701784" y="36027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5E07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Entra ID vs ADDS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701784" y="405993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Nuvem (web) vs on-premises (Windows Server)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5212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9A227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Na próxima fase: criação de usuários e grupos, MFA gratuito com Security Defaults e controle de acesso (RBAC).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6455664"/>
            <a:ext cx="10908792" cy="10973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62472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ELIMINATÓRIAS · NIVELAMENTO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pr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5756" y="640080"/>
            <a:ext cx="2377440" cy="846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5676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9A22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ENCERRAMENTO DA FASE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Você concluiu a Eliminatórias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731520" y="35204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1595628" y="3749040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595628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Fundamentos de cloud e Azure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98648" y="35204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762756" y="3749040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762756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35808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 trial protegida + controle de custo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65776" y="35204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929884" y="3749040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929884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02936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 GitHub + Copilot Free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32904" y="35204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8097012" y="3749040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097012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70064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VNet, Virtual Machine e Storage Account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400032" y="352044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141414"/>
          </a:solidFill>
          <a:ln w="12700">
            <a:solidFill>
              <a:srgbClr val="2A2A2A"/>
            </a:solidFill>
            <a:prstDash val="solid"/>
          </a:ln>
          <a:effectLst>
            <a:outerShdw blurRad="114300" dist="38100" dir="8100000" algn="bl" rotWithShape="0">
              <a:srgbClr val="000000">
                <a:alpha val="4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10264140" y="3749040"/>
            <a:ext cx="329184" cy="329184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102641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A0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537192" y="4160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Primeira visão do Microsoft Entra ID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0" y="54406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Próxima fase  </a:t>
            </a:r>
            <a:r>
              <a:rPr lang="en-US" sz="1200" b="1" kern="0" spc="100" dirty="0">
                <a:solidFill>
                  <a:srgbClr val="F5E0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FASE DE GRUPOS · Identidade cloud-native com Microsoft Entra ID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8A8A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COPA DO MUNDO AZURE 2026 · TFTEC PRIME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B608330-EE2D-42FF-B180-2DE80C1060F7}">
  <we:reference id="wa200010001" version="1.0.0.1" store="pt-BR" storeType="OMEX"/>
  <we:alternateReferences>
    <we:reference id="WA200010001" version="1.0.0.1" store="WA200010001" storeType="OMEX"/>
  </we:alternateReferences>
  <we:properties>
    <we:property name="claude.fileId" value="&quot;4ce35d71-7527-4b7d-bd07-9116475b1f1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BECBC17AED34489AAFDFC65B23260B" ma:contentTypeVersion="17" ma:contentTypeDescription="Crie um novo documento." ma:contentTypeScope="" ma:versionID="164c5429210bcb2e6f465089311af5aa">
  <xsd:schema xmlns:xsd="http://www.w3.org/2001/XMLSchema" xmlns:xs="http://www.w3.org/2001/XMLSchema" xmlns:p="http://schemas.microsoft.com/office/2006/metadata/properties" xmlns:ns2="68d3078d-b8f0-4f3f-97d6-fd7d44c97f5f" xmlns:ns3="d86bfc2b-eba2-4b7b-ba22-a213a9cfa08c" targetNamespace="http://schemas.microsoft.com/office/2006/metadata/properties" ma:root="true" ma:fieldsID="58d7969b7e390f62629a3c21e9c7e895" ns2:_="" ns3:_="">
    <xsd:import namespace="68d3078d-b8f0-4f3f-97d6-fd7d44c97f5f"/>
    <xsd:import namespace="d86bfc2b-eba2-4b7b-ba22-a213a9cfa0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d3078d-b8f0-4f3f-97d6-fd7d44c97f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8d8882b2-b48f-493b-8a17-2dd180d22a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6bfc2b-eba2-4b7b-ba22-a213a9cfa08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2e77d8be-376f-4410-b50d-833479b3da17}" ma:internalName="TaxCatchAll" ma:showField="CatchAllData" ma:web="d86bfc2b-eba2-4b7b-ba22-a213a9cfa0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d3078d-b8f0-4f3f-97d6-fd7d44c97f5f">
      <Terms xmlns="http://schemas.microsoft.com/office/infopath/2007/PartnerControls"/>
    </lcf76f155ced4ddcb4097134ff3c332f>
    <TaxCatchAll xmlns="d86bfc2b-eba2-4b7b-ba22-a213a9cfa0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9D5AC5-A484-4E8C-B813-334B86AE0D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d3078d-b8f0-4f3f-97d6-fd7d44c97f5f"/>
    <ds:schemaRef ds:uri="d86bfc2b-eba2-4b7b-ba22-a213a9cfa0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49E6E3-0904-43B6-A662-9CC7462038A2}">
  <ds:schemaRefs>
    <ds:schemaRef ds:uri="http://schemas.microsoft.com/office/2006/metadata/properties"/>
    <ds:schemaRef ds:uri="http://schemas.microsoft.com/office/infopath/2007/PartnerControls"/>
    <ds:schemaRef ds:uri="68d3078d-b8f0-4f3f-97d6-fd7d44c97f5f"/>
    <ds:schemaRef ds:uri="d86bfc2b-eba2-4b7b-ba22-a213a9cfa08c"/>
  </ds:schemaRefs>
</ds:datastoreItem>
</file>

<file path=customXml/itemProps3.xml><?xml version="1.0" encoding="utf-8"?>
<ds:datastoreItem xmlns:ds="http://schemas.openxmlformats.org/officeDocument/2006/customXml" ds:itemID="{8A421A87-1470-42E4-99D0-735F1E92DD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2866</Words>
  <Application>Microsoft Office PowerPoint</Application>
  <PresentationFormat>Widescreen</PresentationFormat>
  <Paragraphs>506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JetBrains Mono</vt:lpstr>
      <vt:lpstr>Sora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Copa do Mundo Azure 2026 — Eliminatórias</dc:title>
  <dc:subject>PptxGenJS Presentation</dc:subject>
  <dc:creator>TFTEC Prime</dc:creator>
  <cp:lastModifiedBy>Raphael Andrade</cp:lastModifiedBy>
  <cp:revision>2</cp:revision>
  <dcterms:created xsi:type="dcterms:W3CDTF">2026-05-20T16:34:25Z</dcterms:created>
  <dcterms:modified xsi:type="dcterms:W3CDTF">2026-06-05T18:41:49Z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0x010100A9BECBC17AED34489AAFDFC65B23260B</vt:lpwstr>
  </property>
  <property fmtid="{D5CDD505-2E9C-101B-9397-08002B2CF9AE}" pid="3" name="MediaServiceImageTags">
    <vt:lpwstr/>
  </property>
</Properties>
</file>