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36008" y="1371600"/>
            <a:ext cx="2926080" cy="384048"/>
          </a:xfrm>
          <a:prstGeom prst="roundRect">
            <a:avLst/>
          </a:prstGeom>
          <a:solidFill>
            <a:srgbClr val="15130C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FASE 1 · MENSAGERIA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F1 — Mensageria Desacoplada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Azure Service Bus + Functions 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Workshop Living Lab Azure-Native · Fase 1 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983480"/>
            <a:ext cx="5486400" cy="457200"/>
          </a:xfrm>
          <a:prstGeom prst="roundRect">
            <a:avLst/>
          </a:prstGeom>
          <a:solidFill>
            <a:srgbClr val="16160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100% GRATUITO  ·  CONTA TRIAL AZURE +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PROJETO TFTICKETS  ·  COPA DO MUNDO AZURE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STACK DO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As tecnologias que vamos usar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38527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Azure Service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74519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Fila gerenciada que desacopla a compra do processamento.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79775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Azure Functions (.NET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715768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Serverless: 1 produtor HTTP, 1 consumidor da fila, 1 de status.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21023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Application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557015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Observabilidade e rastreio da compra de ponta a ponta.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62272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9826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Azure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398264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Onde a compra é gravada — com gravação idempotente.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035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395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GitHub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239512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CI/CD: build e deploy automáticos a cada push.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5E070"/>
                </a:solidFill>
                <a:latin typeface="Sora"/>
                <a:cs typeface="Sora"/>
                <a:ea typeface="Sora"/>
              </a:rPr>
              <a:t>Tudo cabe no plano gratuito — você termina a fase sem gastar nada.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ROTEIRO DA ETAPA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O que você vai fazer na 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8A8A8A"/>
                </a:solidFill>
                <a:latin typeface="Sora"/>
                <a:cs typeface="Sora"/>
                <a:ea typeface="Sora"/>
              </a:rPr>
              <a:t>Rodar a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phase-01.sql — adiciona source + correlation_id (antes da aula)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3230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32304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Criar o Service 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432304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namespace + queue tickets-purchase no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35808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35808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Codar a Entry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35808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HTTP → publica na fila → responde 202 + correlationId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393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3931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Codar a Consumer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639312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Service Bus trigger → INSERT idempotente no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42816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42816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Lab da DLQ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42816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forçar uma poison message e vê-la cair na dead-letter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4632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Rastrear no App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846320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buscar 1 correlationId e ver a compra ponta a ponta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982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49824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Deploy via GitHub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449824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push no branch → build → deploy → smoke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5332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Passo 0 é pré-aula; 1 a 6 são hands-on ao vivo (≈ 6h).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ARQUITETURA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Compra assíncrona: aceite rápido, processe depois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0908792" cy="269748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819656"/>
            <a:ext cx="10579608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CCCCC"/>
                </a:solidFill>
                <a:latin typeface="JetBrains Mono"/>
                <a:cs typeface="JetBrains Mono"/>
                <a:ea typeface="JetBrains Mono"/>
              </a:rPr>
              <a:t>[Browser]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 POST /api/v2/purchase ──→ [Entry Fn] ──msg──→ [Service Bus: tickets-purchase]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   ←── 202 { correlationId, status:"queued" }              │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                                            [Consumer Fn] ←── msg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                                                  INSERT idempotente ──→ [Azure SQL]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 GET /api/v2/purchase/{id} ──→ [Status Fn] ──→ { status, ticketId?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5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3 Functions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: Entry (produz), Consumer (processa), Status (consulta)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5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Microsserviço paralelo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: grava na MESMA tabela purchases (v1 segue intacto)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74320"/>
            <a:ext cx="5029200" cy="6126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TECNOLOGIA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Azure Service 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43400"/>
            <a:ext cx="6675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A fila gerenciada que recebe a compra e garante a entrega ao consumidor.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AZURE SERVICE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Namespace, fila e DLQ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6766560" cy="210312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865376"/>
            <a:ext cx="6437376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CCCCC"/>
                </a:solidFill>
                <a:latin typeface="JetBrains Mono"/>
                <a:cs typeface="JetBrains Mono"/>
                <a:ea typeface="JetBrains Mono"/>
              </a:rPr>
              <a:t>[Namespace] sb-fifa2026-...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 |__ Queue: tickets-purchase     &lt;- ponto-a-ponto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   |     |__ .../$DeadLetterQueue   &lt;- DLQ automática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   |__ tier: Standard · lock 30s · maxDelivery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8308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Tier </a:t>
            </a:r>
            <a:r>
              <a:rPr sz="15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Standard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— Basic não tem topics; Premium é overkill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DLQ é </a:t>
            </a:r>
            <a:r>
              <a:rPr sz="15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automática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— você não cria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Entrega </a:t>
            </a:r>
            <a:r>
              <a:rPr sz="1500" b="1" i="0">
                <a:solidFill>
                  <a:srgbClr val="F5E070"/>
                </a:solidFill>
                <a:latin typeface="Sora"/>
                <a:cs typeface="Sora"/>
                <a:ea typeface="Sora"/>
              </a:rPr>
              <a:t>at-least-once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→ consumidor precisa ser idempotente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▸ NESTA ETAPA  </a:t>
            </a:r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criar o namespace + a queue tickets-purchase pelo Portal do Azure.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74320"/>
            <a:ext cx="5029200" cy="6126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TECNOLOGIA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Azure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43400"/>
            <a:ext cx="6675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Três funções serverless em .NET 8: uma publica, uma consome e uma consulta o status.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FUNCTIONS · PRODUTOR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PurchaseEntryFunction — HTTP → fila → 202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6858000" cy="310896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819656"/>
            <a:ext cx="6528816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public sealed class EntryOutput {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  [ServiceBusOutput("tickets-purchase",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     Connection = "ServiceBusConnection")]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public string? Message { get; set; }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  [HttpResult]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public IActionResult? HttpResponse { get; set; }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// gera correlationId (GUID) e responde 202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691640"/>
            <a:ext cx="3913632" cy="310896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819656"/>
            <a:ext cx="3584448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// CONTRATO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POST /api/v2/purchase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{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"matchId": 1,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"category": "VIP",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"userId": 1,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"quantity": 1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→ 202 Accepted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{ correlationId, "queued"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▸ NESTA ETAPA  </a:t>
            </a:r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implementar a Entry: validar o corpo, gerar o correlationId e publicar na fila.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FUNCTIONS · CONSUMIDOR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PurchaseConsumerFunction — fila → INSERT idempotente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0908792" cy="237744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819656"/>
            <a:ext cx="10579608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-- O banco é o juiz da unicidade: índice UNIQUE filtrado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CREATE UNIQUE INDEX UQ_purchases_correlation_id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ON dbo.purchases(correlation_id) WHERE correlation_id IS NOT NULL;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try { await conn.ExecuteAsync("INSERT INTO dbo.purchases ..."); }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catch (SqlException ex) when (ex.Number is 2627 or 2601) {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  /* duplicata → idempotência atingida, ignora */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Mesma mensagem 2x = </a:t>
            </a:r>
            <a:r>
              <a:rPr sz="15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1 registro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(at-least-once exige isso)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5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INSERT atômico</a:t>
            </a: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— sem race condition; o banco rejeita a duplicata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▸ NESTA ETAPA  </a:t>
            </a:r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implementar o Consumer e provar a idempotência reenviando a mesma mensagem.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FUNCTIONS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PurchaseStatusFunction — consultar a compra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0908792" cy="210312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911095"/>
            <a:ext cx="10579608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GET /api/v2/purchase/{correlationId}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→ 200 { "status": "completed", "ticketId": 42 }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status: "queued" | "processing" | "completed" | "failed"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  ticketId só aparece quando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O recibo não basta: o front guarda o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correlationId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e consulta o status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Faz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polling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até virar completed (na F6 isso vira push em tempo real)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▸ NESTA ETAPA  </a:t>
            </a:r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implementar o GET de status e acompanhar a compra sair de queued → completed.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SERVICE BUS · DLQ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Dead-Letter Queue: o hospital das mensagens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08792" cy="137160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956816"/>
            <a:ext cx="10579608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falha → reentrega → ... (até max delivery = 10) → 11ª vez: DLQ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                                tickets-purchase/$DeadLetterQueue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1" i="0">
                <a:solidFill>
                  <a:srgbClr val="E0654F"/>
                </a:solidFill>
                <a:latin typeface="Sora"/>
                <a:cs typeface="Sora"/>
                <a:ea typeface="Sora"/>
              </a:rPr>
              <a:t>Poison message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: falha sempre (ex: matchId inexistente, JSON corrompido)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A DLQ é um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estacionamento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, não lixeira — a mensagem fica preservada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Duplicata → engole; </a:t>
            </a:r>
            <a:r>
              <a:rPr sz="1600" b="1" i="0">
                <a:solidFill>
                  <a:srgbClr val="F5E070"/>
                </a:solidFill>
                <a:latin typeface="Sora"/>
                <a:cs typeface="Sora"/>
                <a:ea typeface="Sora"/>
              </a:rPr>
              <a:t>erro permanente → throw → DLQ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▸ NESTA ETAPA  </a:t>
            </a:r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forçar uma poison message e inspecioná-la na DLQ pelo Service Bus Explorer.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274320"/>
            <a:ext cx="5029200" cy="6126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0" b="1" i="0">
                <a:solidFill>
                  <a:srgbClr val="C9A227"/>
                </a:solidFill>
                <a:latin typeface="Sora"/>
                <a:cs typeface="Sora"/>
                <a:ea typeface="Sor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TECNOLOGIA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Application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43400"/>
            <a:ext cx="6675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Enxergar a compra inteira: um único ID que viaja por todos os componentes.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APPLICATION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Correlação ponta-a-ponta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0879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82712"/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9A227"/>
                          </a:solidFill>
                          <a:latin typeface="JetBrains Mono"/>
                          <a:cs typeface="JetBrains Mono"/>
                          <a:ea typeface="JetBrains Mono"/>
                        </a:rPr>
                        <a:t>Hop</a:t>
                      </a:r>
                    </a:p>
                  </a:txBody>
                  <a:tcPr anchor="ctr" marL="137160" marT="27432" marB="27432">
                    <a:solidFill>
                      <a:srgbClr val="16160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C9A227"/>
                          </a:solidFill>
                          <a:latin typeface="JetBrains Mono"/>
                          <a:cs typeface="JetBrains Mono"/>
                          <a:ea typeface="JetBrains Mono"/>
                        </a:rPr>
                        <a:t>Como o correlationId viaja</a:t>
                      </a:r>
                    </a:p>
                  </a:txBody>
                  <a:tcPr anchor="ctr" marL="137160" marT="27432" marB="27432">
                    <a:solidFill>
                      <a:srgbClr val="16160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5E070"/>
                          </a:solidFill>
                          <a:latin typeface="JetBrains Mono"/>
                          <a:cs typeface="JetBrains Mono"/>
                          <a:ea typeface="JetBrains Mono"/>
                        </a:rPr>
                        <a:t>HTTP</a:t>
                      </a:r>
                    </a:p>
                  </a:txBody>
                  <a:tcPr anchor="ctr" marL="137160" marT="27432" marB="2743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CCCCCC"/>
                          </a:solidFill>
                          <a:latin typeface="Sora"/>
                          <a:cs typeface="Sora"/>
                          <a:ea typeface="Sora"/>
                        </a:rPr>
                        <a:t>GUID gerado na Entry Function</a:t>
                      </a:r>
                    </a:p>
                  </a:txBody>
                  <a:tcPr anchor="ctr" marL="137160" marT="27432" marB="27432">
                    <a:solidFill>
                      <a:srgbClr val="0A0A0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5E070"/>
                          </a:solidFill>
                          <a:latin typeface="JetBrains Mono"/>
                          <a:cs typeface="JetBrains Mono"/>
                          <a:ea typeface="JetBrains Mono"/>
                        </a:rPr>
                        <a:t>Service Bus</a:t>
                      </a:r>
                    </a:p>
                  </a:txBody>
                  <a:tcPr anchor="ctr" marL="137160" marT="27432" marB="27432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CCCCCC"/>
                          </a:solidFill>
                          <a:latin typeface="Sora"/>
                          <a:cs typeface="Sora"/>
                          <a:ea typeface="Sora"/>
                        </a:rPr>
                        <a:t>vai no corpo da mensagem</a:t>
                      </a:r>
                    </a:p>
                  </a:txBody>
                  <a:tcPr anchor="ctr" marL="137160" marT="27432" marB="27432">
                    <a:solidFill>
                      <a:srgbClr val="12121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5E070"/>
                          </a:solidFill>
                          <a:latin typeface="JetBrains Mono"/>
                          <a:cs typeface="JetBrains Mono"/>
                          <a:ea typeface="JetBrains Mono"/>
                        </a:rPr>
                        <a:t>Logs</a:t>
                      </a:r>
                    </a:p>
                  </a:txBody>
                  <a:tcPr anchor="ctr" marL="137160" marT="27432" marB="2743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CCCCCC"/>
                          </a:solidFill>
                          <a:latin typeface="Sora"/>
                          <a:cs typeface="Sora"/>
                          <a:ea typeface="Sora"/>
                        </a:rPr>
                        <a:t>BeginScope(new { CorrelationId }) → App Insights</a:t>
                      </a:r>
                    </a:p>
                  </a:txBody>
                  <a:tcPr anchor="ctr" marL="137160" marT="27432" marB="27432">
                    <a:solidFill>
                      <a:srgbClr val="0A0A0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5E070"/>
                          </a:solidFill>
                          <a:latin typeface="JetBrains Mono"/>
                          <a:cs typeface="JetBrains Mono"/>
                          <a:ea typeface="JetBrains Mono"/>
                        </a:rPr>
                        <a:t>Azure SQL</a:t>
                      </a:r>
                    </a:p>
                  </a:txBody>
                  <a:tcPr anchor="ctr" marL="137160" marT="27432" marB="27432"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CCCCCC"/>
                          </a:solidFill>
                          <a:latin typeface="Sora"/>
                          <a:cs typeface="Sora"/>
                          <a:ea typeface="Sora"/>
                        </a:rPr>
                        <a:t>coluna correlation_id</a:t>
                      </a:r>
                    </a:p>
                  </a:txBody>
                  <a:tcPr anchor="ctr" marL="137160" marT="27432" marB="27432">
                    <a:solidFill>
                      <a:srgbClr val="1212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6177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Sora"/>
                <a:cs typeface="Sora"/>
                <a:ea typeface="Sora"/>
              </a:rPr>
              <a:t>Um único ID busca a compra inteira — a semente da observabilidade (Flow Visualizer, F6).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▸ NESTA ETAPA  </a:t>
            </a:r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buscar um correlationId no App Insights e ver o trace atravessar Entry e Consumer.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CI/CD ·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Deploy automático — e gratuito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08792" cy="2194560"/>
          </a:xfrm>
          <a:prstGeom prst="rect">
            <a:avLst/>
          </a:prstGeom>
          <a:solidFill>
            <a:srgbClr val="16160F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956816"/>
            <a:ext cx="10579608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# .github/workflows/deploy-phase-01.yml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on: { push: { branches: [phase-01-servicebus-functions] } }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  checkout → setup-dotnet 8 → dotnet publish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FFFF"/>
                </a:solidFill>
                <a:latin typeface="JetBrains Mono"/>
                <a:cs typeface="JetBrains Mono"/>
                <a:ea typeface="JetBrains Mono"/>
              </a:rPr>
              <a:t>    → Azure/functions-action@v1  → smoke test (curl + jq .correlationId)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1 workflow por fase, disparado por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push no branch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Smoke test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obrigatório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: valida o correlationId no ar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GitHub Actions: </a:t>
            </a:r>
            <a:r>
              <a:rPr sz="1600" b="1" i="0">
                <a:solidFill>
                  <a:srgbClr val="5FB37A"/>
                </a:solidFill>
                <a:latin typeface="Sora"/>
                <a:cs typeface="Sora"/>
                <a:ea typeface="Sora"/>
              </a:rPr>
              <a:t>2.000 min/mês grátis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▸ NESTA ETAPA  </a:t>
            </a:r>
            <a:r>
              <a:rPr sz="13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dar push no branch da fase e ver o deploy + smoke test rodarem sozinhos.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CUSTO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Tudo isso por R$ 0,00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411480" cy="411480"/>
          </a:xfrm>
          <a:prstGeom prst="roundRect">
            <a:avLst/>
          </a:prstGeom>
          <a:solidFill>
            <a:srgbClr val="16160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Conta Azure gratuita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042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US$ 200 de crédito por 30 dias + serviços sempre gratuitos.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411480" cy="411480"/>
          </a:xfrm>
          <a:prstGeom prst="roundRect">
            <a:avLst/>
          </a:prstGeom>
          <a:solidFill>
            <a:srgbClr val="16160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17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Service Bus + Functions + App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Cabem no volume da trial — uso de workshop não gera fatura.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411480" cy="411480"/>
          </a:xfrm>
          <a:prstGeom prst="roundRect">
            <a:avLst/>
          </a:prstGeom>
          <a:solidFill>
            <a:srgbClr val="16160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5FB37A"/>
                </a:solidFill>
                <a:latin typeface="JetBrains Mono"/>
                <a:cs typeface="JetBrains Mono"/>
                <a:ea typeface="JetBrains Mon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GitHub gratuito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902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Repositório + 2.000 min/mês de Actions, sem cartão.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E070"/>
                </a:solidFill>
                <a:latin typeface="Sora"/>
                <a:cs typeface="Sora"/>
                <a:ea typeface="Sora"/>
              </a:rPr>
              <a:t>Curso 100% gratuito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— só precisa de um e-mail e vontade de aprender.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JetBrains Mono"/>
                <a:cs typeface="JetBrains Mono"/>
                <a:ea typeface="JetBrains Mono"/>
              </a:rPr>
              <a:t>ENCERRAMENTO DA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Você concluiu a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Service Bus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com fila + DLQ provisionados no Portal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3 Functions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: Entry (202), Consumer (idempotente) e Status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App Insights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com correlação ponta-a-ponta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A227"/>
                </a:solidFill>
                <a:latin typeface="Sora"/>
                <a:cs typeface="Sora"/>
                <a:ea typeface="Sora"/>
              </a:rPr>
              <a:t>•  </a:t>
            </a:r>
            <a:r>
              <a:rPr sz="1600" b="1" i="0">
                <a:solidFill>
                  <a:srgbClr val="FFFFFF"/>
                </a:solidFill>
                <a:latin typeface="Sora"/>
                <a:cs typeface="Sora"/>
                <a:ea typeface="Sora"/>
              </a:rPr>
              <a:t>Deploy</a:t>
            </a:r>
            <a:r>
              <a:rPr sz="1600" b="0" i="0">
                <a:solidFill>
                  <a:srgbClr val="CCCCCC"/>
                </a:solidFill>
                <a:latin typeface="Sora"/>
                <a:cs typeface="Sora"/>
                <a:ea typeface="Sora"/>
              </a:rPr>
              <a:t> automático via GitHub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32120"/>
            <a:ext cx="4937760" cy="457200"/>
          </a:xfrm>
          <a:prstGeom prst="roundRect">
            <a:avLst/>
          </a:prstGeom>
          <a:solidFill>
            <a:srgbClr val="16160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0" i="0">
                <a:solidFill>
                  <a:srgbClr val="F5E070"/>
                </a:solidFill>
                <a:latin typeface="JetBrains Mono"/>
                <a:cs typeface="JetBrains Mono"/>
                <a:ea typeface="JetBrains Mono"/>
              </a:rPr>
              <a:t>PRÓXIMA FASE: F2 — GATEWAY YARP EM .NET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55664"/>
            <a:ext cx="10908792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COPA DO MUNDO AZURE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JetBrains Mono"/>
                <a:cs typeface="JetBrains Mono"/>
                <a:ea typeface="JetBrains Mono"/>
              </a:rPr>
              <a:t>F1 · MENSAGERIA DESACOPLADA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